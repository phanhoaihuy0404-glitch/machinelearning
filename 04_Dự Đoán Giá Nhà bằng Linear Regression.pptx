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0" r:id="rId11"/>
    <p:sldId id="265" r:id="rId12"/>
    <p:sldId id="266" r:id="rId13"/>
    <p:sldId id="267" r:id="rId14"/>
    <p:sldId id="268"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0" autoAdjust="0"/>
    <p:restoredTop sz="94660"/>
  </p:normalViewPr>
  <p:slideViewPr>
    <p:cSldViewPr snapToGrid="0" snapToObjects="1">
      <p:cViewPr varScale="1">
        <p:scale>
          <a:sx n="116" d="100"/>
          <a:sy n="116" d="100"/>
        </p:scale>
        <p:origin x="102"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1.png"/><Relationship Id="rId7" Type="http://schemas.openxmlformats.org/officeDocument/2006/relationships/image" Target="../media/image2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1.png"/><Relationship Id="rId7" Type="http://schemas.openxmlformats.org/officeDocument/2006/relationships/image" Target="../media/image3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2866727" y="4174777"/>
            <a:ext cx="6458545" cy="1308645"/>
          </a:xfrm>
          <a:prstGeom prst="rect">
            <a:avLst/>
          </a:prstGeom>
        </p:spPr>
      </p:pic>
      <p:sp>
        <p:nvSpPr>
          <p:cNvPr id="4" name="TextBox 3"/>
          <p:cNvSpPr txBox="1"/>
          <p:nvPr/>
        </p:nvSpPr>
        <p:spPr>
          <a:xfrm>
            <a:off x="2285996" y="1374576"/>
            <a:ext cx="7619858" cy="1325760"/>
          </a:xfrm>
          <a:prstGeom prst="rect">
            <a:avLst/>
          </a:prstGeom>
          <a:noFill/>
        </p:spPr>
        <p:txBody>
          <a:bodyPr wrap="square" lIns="0" tIns="0" rIns="0" bIns="0" anchor="t">
            <a:spAutoFit/>
          </a:bodyPr>
          <a:lstStyle/>
          <a:p>
            <a:pPr algn="ctr">
              <a:lnSpc>
                <a:spcPts val="5220"/>
              </a:lnSpc>
            </a:pPr>
            <a:r>
              <a:rPr sz="4350" b="1" i="0" u="none">
                <a:solidFill>
                  <a:srgbClr val="0B2F5C"/>
                </a:solidFill>
                <a:latin typeface="+mj-lt"/>
              </a:rPr>
              <a:t>DỰ ĐOÁN GIÁ NHÀ</a:t>
            </a:r>
            <a:r>
              <a:rPr b="1">
                <a:latin typeface="+mj-lt"/>
              </a:rPr>
              <a:t>
</a:t>
            </a:r>
            <a:r>
              <a:rPr sz="4350" b="1" i="0" u="none">
                <a:solidFill>
                  <a:srgbClr val="0B2F5C"/>
                </a:solidFill>
                <a:latin typeface="+mj-lt"/>
              </a:rPr>
              <a:t> BẰNG LINEAR REGRESSION</a:t>
            </a:r>
          </a:p>
        </p:txBody>
      </p:sp>
      <p:sp>
        <p:nvSpPr>
          <p:cNvPr id="5" name="TextBox 4"/>
          <p:cNvSpPr txBox="1"/>
          <p:nvPr/>
        </p:nvSpPr>
        <p:spPr>
          <a:xfrm>
            <a:off x="4037111" y="2890837"/>
            <a:ext cx="4117627" cy="820417"/>
          </a:xfrm>
          <a:prstGeom prst="rect">
            <a:avLst/>
          </a:prstGeom>
          <a:noFill/>
        </p:spPr>
        <p:txBody>
          <a:bodyPr wrap="square" lIns="0" tIns="0" rIns="0" bIns="0" anchor="t">
            <a:spAutoFit/>
          </a:bodyPr>
          <a:lstStyle/>
          <a:p>
            <a:pPr algn="ctr">
              <a:lnSpc>
                <a:spcPts val="3359"/>
              </a:lnSpc>
            </a:pPr>
            <a:r>
              <a:rPr sz="2100" b="0" i="0" u="none">
                <a:solidFill>
                  <a:srgbClr val="4A90E2"/>
                </a:solidFill>
                <a:latin typeface="Lato"/>
              </a:rPr>
              <a:t>Báo cáo kết thúc học phần </a:t>
            </a:r>
            <a:endParaRPr lang="en-US" sz="2100" b="0" i="0" u="none">
              <a:solidFill>
                <a:srgbClr val="4A90E2"/>
              </a:solidFill>
              <a:latin typeface="Lato"/>
            </a:endParaRPr>
          </a:p>
          <a:p>
            <a:pPr algn="ctr">
              <a:lnSpc>
                <a:spcPts val="3359"/>
              </a:lnSpc>
            </a:pPr>
            <a:r>
              <a:rPr sz="2100" b="0" i="0" u="none">
                <a:solidFill>
                  <a:srgbClr val="4A90E2"/>
                </a:solidFill>
                <a:latin typeface="Lato"/>
              </a:rPr>
              <a:t>Học Máy</a:t>
            </a:r>
          </a:p>
        </p:txBody>
      </p:sp>
      <p:sp>
        <p:nvSpPr>
          <p:cNvPr id="6" name="TextBox 5"/>
          <p:cNvSpPr txBox="1"/>
          <p:nvPr/>
        </p:nvSpPr>
        <p:spPr>
          <a:xfrm>
            <a:off x="2866727" y="4470052"/>
            <a:ext cx="6458545" cy="274290"/>
          </a:xfrm>
          <a:prstGeom prst="rect">
            <a:avLst/>
          </a:prstGeom>
          <a:noFill/>
        </p:spPr>
        <p:txBody>
          <a:bodyPr wrap="square" lIns="0" tIns="0" rIns="0" bIns="0" anchor="t">
            <a:spAutoFit/>
          </a:bodyPr>
          <a:lstStyle/>
          <a:p>
            <a:pPr algn="ctr">
              <a:lnSpc>
                <a:spcPts val="2160"/>
              </a:lnSpc>
            </a:pPr>
            <a:r>
              <a:rPr sz="1350" b="1" i="0" u="none">
                <a:solidFill>
                  <a:srgbClr val="334155"/>
                </a:solidFill>
                <a:latin typeface="Lato"/>
              </a:rPr>
              <a:t>Trường:</a:t>
            </a:r>
            <a:r>
              <a:rPr sz="1350" b="0" i="0" u="none">
                <a:solidFill>
                  <a:srgbClr val="334155"/>
                </a:solidFill>
                <a:latin typeface="Lato"/>
              </a:rPr>
              <a:t> ĐH Ngoại ngữ - Tin học TP.HCM (HUFLIT) - Khoa CNTT</a:t>
            </a:r>
          </a:p>
        </p:txBody>
      </p:sp>
      <p:sp>
        <p:nvSpPr>
          <p:cNvPr id="7" name="TextBox 6"/>
          <p:cNvSpPr txBox="1"/>
          <p:nvPr/>
        </p:nvSpPr>
        <p:spPr>
          <a:xfrm>
            <a:off x="2866727" y="4839592"/>
            <a:ext cx="6458545" cy="274290"/>
          </a:xfrm>
          <a:prstGeom prst="rect">
            <a:avLst/>
          </a:prstGeom>
          <a:noFill/>
        </p:spPr>
        <p:txBody>
          <a:bodyPr wrap="square" lIns="0" tIns="0" rIns="0" bIns="0" anchor="t">
            <a:spAutoFit/>
          </a:bodyPr>
          <a:lstStyle/>
          <a:p>
            <a:pPr algn="ctr">
              <a:lnSpc>
                <a:spcPts val="2160"/>
              </a:lnSpc>
            </a:pPr>
            <a:r>
              <a:rPr sz="1350" b="1" i="0" u="none">
                <a:solidFill>
                  <a:srgbClr val="334155"/>
                </a:solidFill>
                <a:latin typeface="Lato"/>
              </a:rPr>
              <a:t>Giảng viên HD:</a:t>
            </a:r>
            <a:r>
              <a:rPr sz="1350" b="0" i="0" u="none">
                <a:solidFill>
                  <a:srgbClr val="334155"/>
                </a:solidFill>
                <a:latin typeface="Lato"/>
              </a:rPr>
              <a:t> ThS. Huỳnh Thành Lộc</a:t>
            </a:r>
          </a:p>
        </p:txBody>
      </p:sp>
      <p:sp>
        <p:nvSpPr>
          <p:cNvPr id="8" name="TextBox 7"/>
          <p:cNvSpPr txBox="1"/>
          <p:nvPr/>
        </p:nvSpPr>
        <p:spPr>
          <a:xfrm>
            <a:off x="2866727" y="5209133"/>
            <a:ext cx="6458545" cy="274290"/>
          </a:xfrm>
          <a:prstGeom prst="rect">
            <a:avLst/>
          </a:prstGeom>
          <a:noFill/>
        </p:spPr>
        <p:txBody>
          <a:bodyPr wrap="square" lIns="0" tIns="0" rIns="0" bIns="0" anchor="t">
            <a:spAutoFit/>
          </a:bodyPr>
          <a:lstStyle/>
          <a:p>
            <a:pPr algn="ctr">
              <a:lnSpc>
                <a:spcPts val="2160"/>
              </a:lnSpc>
            </a:pPr>
            <a:r>
              <a:rPr sz="1350" b="1" i="0" u="none">
                <a:solidFill>
                  <a:srgbClr val="334155"/>
                </a:solidFill>
                <a:latin typeface="Lato"/>
              </a:rPr>
              <a:t>Sinh viên thực hiện:</a:t>
            </a:r>
            <a:r>
              <a:rPr sz="1350" b="0" i="0" u="none">
                <a:solidFill>
                  <a:srgbClr val="334155"/>
                </a:solidFill>
                <a:latin typeface="Lato"/>
              </a:rPr>
              <a:t> Phan Hoài Huy (24DH190313) &amp; Mai Thị Ngọc Lam (24DH190093)</a:t>
            </a:r>
          </a:p>
        </p:txBody>
      </p:sp>
      <p:pic>
        <p:nvPicPr>
          <p:cNvPr id="9" name="Picture 8">
            <a:extLst>
              <a:ext uri="{FF2B5EF4-FFF2-40B4-BE49-F238E27FC236}">
                <a16:creationId xmlns:a16="http://schemas.microsoft.com/office/drawing/2014/main" id="{09FC8237-C503-449C-D6D7-16F17F65EA40}"/>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6926" b="9889"/>
          <a:stretch/>
        </p:blipFill>
        <p:spPr bwMode="auto">
          <a:xfrm>
            <a:off x="220978" y="288259"/>
            <a:ext cx="1844040" cy="985520"/>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571500" y="1552575"/>
            <a:ext cx="5381625" cy="1019175"/>
          </a:xfrm>
          <a:prstGeom prst="roundRect">
            <a:avLst>
              <a:gd name="adj" fmla="val 747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7250" y="1743075"/>
            <a:ext cx="4905375" cy="638175"/>
          </a:xfrm>
          <a:prstGeom prst="rect">
            <a:avLst/>
          </a:prstGeom>
          <a:noFill/>
        </p:spPr>
        <p:txBody>
          <a:bodyPr wrap="square" lIns="0" tIns="0" rIns="0" bIns="0" anchor="t">
            <a:spAutoFit/>
          </a:bodyPr>
          <a:lstStyle/>
          <a:p>
            <a:pPr algn="l">
              <a:lnSpc>
                <a:spcPts val="2400"/>
              </a:lnSpc>
            </a:pPr>
            <a:r>
              <a:rPr sz="1500" b="0" i="0" u="none">
                <a:solidFill>
                  <a:srgbClr val="0B2F5C"/>
                </a:solidFill>
                <a:latin typeface="Lato SemiBold"/>
              </a:rPr>
              <a:t>1. Đặt vấn đề &amp; Mục tiêu</a:t>
            </a:r>
            <a:r>
              <a:rPr sz="1500" b="0" i="0" u="none">
                <a:solidFill>
                  <a:srgbClr val="334155"/>
                </a:solidFill>
                <a:latin typeface="Lato"/>
              </a:rPr>
              <a:t> </a:t>
            </a:r>
            <a:r>
              <a:t>
</a:t>
            </a:r>
            <a:r>
              <a:rPr sz="1500" b="0" i="0" u="none">
                <a:solidFill>
                  <a:srgbClr val="334155"/>
                </a:solidFill>
                <a:latin typeface="Lato"/>
              </a:rPr>
              <a:t> Bối cảnh thị trường và định hướng giải pháp.</a:t>
            </a:r>
          </a:p>
        </p:txBody>
      </p:sp>
      <p:sp>
        <p:nvSpPr>
          <p:cNvPr id="5" name="Rectangle 4"/>
          <p:cNvSpPr/>
          <p:nvPr/>
        </p:nvSpPr>
        <p:spPr>
          <a:xfrm>
            <a:off x="571500" y="256222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71500" y="155257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71500" y="1552575"/>
            <a:ext cx="47625" cy="1019175"/>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943600" y="1552575"/>
            <a:ext cx="9525" cy="10191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71500" y="2762250"/>
            <a:ext cx="5381625" cy="1019175"/>
          </a:xfrm>
          <a:prstGeom prst="roundRect">
            <a:avLst>
              <a:gd name="adj" fmla="val 747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7250" y="2952750"/>
            <a:ext cx="4905375" cy="638175"/>
          </a:xfrm>
          <a:prstGeom prst="rect">
            <a:avLst/>
          </a:prstGeom>
          <a:noFill/>
        </p:spPr>
        <p:txBody>
          <a:bodyPr wrap="square" lIns="0" tIns="0" rIns="0" bIns="0" anchor="t">
            <a:spAutoFit/>
          </a:bodyPr>
          <a:lstStyle/>
          <a:p>
            <a:pPr algn="l">
              <a:lnSpc>
                <a:spcPts val="2400"/>
              </a:lnSpc>
            </a:pPr>
            <a:r>
              <a:rPr sz="1500" b="0" i="0" u="none">
                <a:solidFill>
                  <a:srgbClr val="0B2F5C"/>
                </a:solidFill>
                <a:latin typeface="Lato SemiBold"/>
              </a:rPr>
              <a:t>2. Cơ sở lý thuyết</a:t>
            </a:r>
            <a:r>
              <a:rPr sz="1500" b="0" i="0" u="none">
                <a:solidFill>
                  <a:srgbClr val="334155"/>
                </a:solidFill>
                <a:latin typeface="Lato"/>
              </a:rPr>
              <a:t> </a:t>
            </a:r>
            <a:r>
              <a:t>
</a:t>
            </a:r>
            <a:r>
              <a:rPr sz="1500" b="0" i="0" u="none">
                <a:solidFill>
                  <a:srgbClr val="334155"/>
                </a:solidFill>
                <a:latin typeface="Lato"/>
              </a:rPr>
              <a:t> Các thuật toán Linear, Ridge, Lasso Regression.</a:t>
            </a:r>
          </a:p>
        </p:txBody>
      </p:sp>
      <p:sp>
        <p:nvSpPr>
          <p:cNvPr id="11" name="Rectangle 10"/>
          <p:cNvSpPr/>
          <p:nvPr/>
        </p:nvSpPr>
        <p:spPr>
          <a:xfrm>
            <a:off x="571500" y="3771900"/>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2762250"/>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71500" y="2762250"/>
            <a:ext cx="47625" cy="1019175"/>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943600" y="2762250"/>
            <a:ext cx="9525" cy="10191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71500" y="3971925"/>
            <a:ext cx="5381625" cy="1019175"/>
          </a:xfrm>
          <a:prstGeom prst="roundRect">
            <a:avLst>
              <a:gd name="adj" fmla="val 747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7250" y="4162425"/>
            <a:ext cx="4905375" cy="638175"/>
          </a:xfrm>
          <a:prstGeom prst="rect">
            <a:avLst/>
          </a:prstGeom>
          <a:noFill/>
        </p:spPr>
        <p:txBody>
          <a:bodyPr wrap="square" lIns="0" tIns="0" rIns="0" bIns="0" anchor="t">
            <a:spAutoFit/>
          </a:bodyPr>
          <a:lstStyle/>
          <a:p>
            <a:pPr algn="l">
              <a:lnSpc>
                <a:spcPts val="2400"/>
              </a:lnSpc>
            </a:pPr>
            <a:r>
              <a:rPr sz="1500" b="0" i="0" u="none">
                <a:solidFill>
                  <a:srgbClr val="0B2F5C"/>
                </a:solidFill>
                <a:latin typeface="Lato SemiBold"/>
              </a:rPr>
              <a:t>3. Dữ liệu &amp; Tiền xử lý</a:t>
            </a:r>
            <a:r>
              <a:rPr sz="1500" b="0" i="0" u="none">
                <a:solidFill>
                  <a:srgbClr val="334155"/>
                </a:solidFill>
                <a:latin typeface="Lato"/>
              </a:rPr>
              <a:t> </a:t>
            </a:r>
            <a:r>
              <a:t>
</a:t>
            </a:r>
            <a:r>
              <a:rPr sz="1500" b="0" i="0" u="none">
                <a:solidFill>
                  <a:srgbClr val="334155"/>
                </a:solidFill>
                <a:latin typeface="Lato"/>
              </a:rPr>
              <a:t> Vietnam Housing Dataset 2024.</a:t>
            </a:r>
          </a:p>
        </p:txBody>
      </p:sp>
      <p:sp>
        <p:nvSpPr>
          <p:cNvPr id="17" name="Rectangle 16"/>
          <p:cNvSpPr/>
          <p:nvPr/>
        </p:nvSpPr>
        <p:spPr>
          <a:xfrm>
            <a:off x="571500" y="498157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71500" y="397192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71500" y="3971925"/>
            <a:ext cx="47625" cy="1019175"/>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943600" y="3971925"/>
            <a:ext cx="9525" cy="10191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238875" y="1552575"/>
            <a:ext cx="5381625" cy="1019175"/>
          </a:xfrm>
          <a:prstGeom prst="roundRect">
            <a:avLst>
              <a:gd name="adj" fmla="val 747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24625" y="1743075"/>
            <a:ext cx="4905375" cy="638175"/>
          </a:xfrm>
          <a:prstGeom prst="rect">
            <a:avLst/>
          </a:prstGeom>
          <a:noFill/>
        </p:spPr>
        <p:txBody>
          <a:bodyPr wrap="square" lIns="0" tIns="0" rIns="0" bIns="0" anchor="t">
            <a:spAutoFit/>
          </a:bodyPr>
          <a:lstStyle/>
          <a:p>
            <a:pPr algn="l">
              <a:lnSpc>
                <a:spcPts val="2400"/>
              </a:lnSpc>
            </a:pPr>
            <a:r>
              <a:rPr sz="1500" b="0" i="0" u="none">
                <a:solidFill>
                  <a:srgbClr val="0B2F5C"/>
                </a:solidFill>
                <a:latin typeface="Lato SemiBold"/>
              </a:rPr>
              <a:t>4. Xây dựng mô hình</a:t>
            </a:r>
            <a:r>
              <a:rPr sz="1500" b="0" i="0" u="none">
                <a:solidFill>
                  <a:srgbClr val="334155"/>
                </a:solidFill>
                <a:latin typeface="Lato"/>
              </a:rPr>
              <a:t> </a:t>
            </a:r>
            <a:r>
              <a:t>
</a:t>
            </a:r>
            <a:r>
              <a:rPr sz="1500" b="0" i="0" u="none">
                <a:solidFill>
                  <a:srgbClr val="334155"/>
                </a:solidFill>
                <a:latin typeface="Lato"/>
              </a:rPr>
              <a:t> Phương pháp triển khai và code pipeline.</a:t>
            </a:r>
          </a:p>
        </p:txBody>
      </p:sp>
      <p:sp>
        <p:nvSpPr>
          <p:cNvPr id="23" name="Rectangle 22"/>
          <p:cNvSpPr/>
          <p:nvPr/>
        </p:nvSpPr>
        <p:spPr>
          <a:xfrm>
            <a:off x="6238875" y="256222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38875" y="155257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38875" y="1552575"/>
            <a:ext cx="47625" cy="1019175"/>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1610975" y="1552575"/>
            <a:ext cx="9525" cy="10191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238875" y="2762250"/>
            <a:ext cx="5381625" cy="1019175"/>
          </a:xfrm>
          <a:prstGeom prst="roundRect">
            <a:avLst>
              <a:gd name="adj" fmla="val 747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24625" y="2952750"/>
            <a:ext cx="4905375" cy="638175"/>
          </a:xfrm>
          <a:prstGeom prst="rect">
            <a:avLst/>
          </a:prstGeom>
          <a:noFill/>
        </p:spPr>
        <p:txBody>
          <a:bodyPr wrap="square" lIns="0" tIns="0" rIns="0" bIns="0" anchor="t">
            <a:spAutoFit/>
          </a:bodyPr>
          <a:lstStyle/>
          <a:p>
            <a:pPr algn="l">
              <a:lnSpc>
                <a:spcPts val="2400"/>
              </a:lnSpc>
            </a:pPr>
            <a:r>
              <a:rPr sz="1500" b="0" i="0" u="none">
                <a:solidFill>
                  <a:srgbClr val="0B2F5C"/>
                </a:solidFill>
                <a:latin typeface="Lato SemiBold"/>
              </a:rPr>
              <a:t>5. Thực nghiệm &amp; Đánh giá</a:t>
            </a:r>
            <a:r>
              <a:rPr sz="1500" b="0" i="0" u="none">
                <a:solidFill>
                  <a:srgbClr val="334155"/>
                </a:solidFill>
                <a:latin typeface="Lato"/>
              </a:rPr>
              <a:t> </a:t>
            </a:r>
            <a:r>
              <a:t>
</a:t>
            </a:r>
            <a:r>
              <a:rPr sz="1500" b="0" i="0" u="none">
                <a:solidFill>
                  <a:srgbClr val="334155"/>
                </a:solidFill>
                <a:latin typeface="Lato"/>
              </a:rPr>
              <a:t> Phân tích hiệu suất dựa trên RMSE, R².</a:t>
            </a:r>
          </a:p>
        </p:txBody>
      </p:sp>
      <p:sp>
        <p:nvSpPr>
          <p:cNvPr id="29" name="Rectangle 28"/>
          <p:cNvSpPr/>
          <p:nvPr/>
        </p:nvSpPr>
        <p:spPr>
          <a:xfrm>
            <a:off x="6238875" y="3771900"/>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38875" y="2762250"/>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38875" y="2762250"/>
            <a:ext cx="47625" cy="1019175"/>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1610975" y="2762250"/>
            <a:ext cx="9525" cy="10191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238875" y="3971925"/>
            <a:ext cx="5381625" cy="1019175"/>
          </a:xfrm>
          <a:prstGeom prst="roundRect">
            <a:avLst>
              <a:gd name="adj" fmla="val 747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24625" y="4162425"/>
            <a:ext cx="4905375" cy="638175"/>
          </a:xfrm>
          <a:prstGeom prst="rect">
            <a:avLst/>
          </a:prstGeom>
          <a:noFill/>
        </p:spPr>
        <p:txBody>
          <a:bodyPr wrap="square" lIns="0" tIns="0" rIns="0" bIns="0" anchor="t">
            <a:spAutoFit/>
          </a:bodyPr>
          <a:lstStyle/>
          <a:p>
            <a:pPr algn="l">
              <a:lnSpc>
                <a:spcPts val="2400"/>
              </a:lnSpc>
            </a:pPr>
            <a:r>
              <a:rPr sz="1500" b="0" i="0" u="none">
                <a:solidFill>
                  <a:srgbClr val="0B2F5C"/>
                </a:solidFill>
                <a:latin typeface="Lato SemiBold"/>
              </a:rPr>
              <a:t>6. Kết luận &amp; Hướng phát triển</a:t>
            </a:r>
            <a:r>
              <a:rPr sz="1500" b="0" i="0" u="none">
                <a:solidFill>
                  <a:srgbClr val="334155"/>
                </a:solidFill>
                <a:latin typeface="Lato"/>
              </a:rPr>
              <a:t> </a:t>
            </a:r>
            <a:r>
              <a:t>
</a:t>
            </a:r>
            <a:r>
              <a:rPr sz="1500" b="0" i="0" u="none">
                <a:solidFill>
                  <a:srgbClr val="334155"/>
                </a:solidFill>
                <a:latin typeface="Lato"/>
              </a:rPr>
              <a:t> Những hạn chế và bước đi tiếp theo.</a:t>
            </a:r>
          </a:p>
        </p:txBody>
      </p:sp>
      <p:sp>
        <p:nvSpPr>
          <p:cNvPr id="35" name="Rectangle 34"/>
          <p:cNvSpPr/>
          <p:nvPr/>
        </p:nvSpPr>
        <p:spPr>
          <a:xfrm>
            <a:off x="6238875" y="498157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38875" y="397192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238875" y="3971925"/>
            <a:ext cx="47625" cy="1019175"/>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1610975" y="3971925"/>
            <a:ext cx="9525" cy="10191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71500" y="256222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71500" y="3771900"/>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71500" y="498157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238875" y="256222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238875" y="3771900"/>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238875" y="4981575"/>
            <a:ext cx="53816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71500" y="571500"/>
            <a:ext cx="11601450" cy="615553"/>
          </a:xfrm>
          <a:prstGeom prst="rect">
            <a:avLst/>
          </a:prstGeom>
          <a:noFill/>
        </p:spPr>
        <p:txBody>
          <a:bodyPr wrap="square" lIns="0" tIns="0" rIns="0" bIns="0" anchor="t">
            <a:spAutoFit/>
          </a:bodyPr>
          <a:lstStyle/>
          <a:p>
            <a:pPr algn="l"/>
            <a:r>
              <a:rPr sz="4000" b="1" i="0" u="none">
                <a:solidFill>
                  <a:srgbClr val="0B2F5C"/>
                </a:solidFill>
                <a:latin typeface="+mj-lt"/>
              </a:rPr>
              <a:t>Nội</a:t>
            </a:r>
            <a:r>
              <a:rPr sz="3600" b="1" i="0" u="none">
                <a:solidFill>
                  <a:srgbClr val="0B2F5C"/>
                </a:solidFill>
                <a:latin typeface="+mj-lt"/>
              </a:rPr>
              <a:t> </a:t>
            </a:r>
            <a:r>
              <a:rPr sz="4000" b="1" i="0" u="none">
                <a:solidFill>
                  <a:srgbClr val="0B2F5C"/>
                </a:solidFill>
                <a:latin typeface="+mj-lt"/>
              </a:rPr>
              <a:t>dung trình bày</a:t>
            </a:r>
            <a:endParaRPr sz="3600" b="1" i="0" u="none">
              <a:solidFill>
                <a:srgbClr val="0B2F5C"/>
              </a:solidFill>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1552575"/>
            <a:ext cx="5286375" cy="3810000"/>
          </a:xfrm>
          <a:prstGeom prst="rect">
            <a:avLst/>
          </a:prstGeom>
        </p:spPr>
      </p:pic>
      <p:sp>
        <p:nvSpPr>
          <p:cNvPr id="4" name="TextBox 3"/>
          <p:cNvSpPr txBox="1"/>
          <p:nvPr/>
        </p:nvSpPr>
        <p:spPr>
          <a:xfrm>
            <a:off x="695325" y="1627748"/>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5" name="TextBox 4"/>
          <p:cNvSpPr txBox="1"/>
          <p:nvPr/>
        </p:nvSpPr>
        <p:spPr>
          <a:xfrm>
            <a:off x="809625" y="1552575"/>
            <a:ext cx="5475514" cy="1195135"/>
          </a:xfrm>
          <a:prstGeom prst="rect">
            <a:avLst/>
          </a:prstGeom>
          <a:noFill/>
        </p:spPr>
        <p:txBody>
          <a:bodyPr wrap="square" lIns="114300" tIns="0" rIns="0" bIns="0" anchor="t">
            <a:spAutoFit/>
          </a:bodyPr>
          <a:lstStyle/>
          <a:p>
            <a:pPr algn="l">
              <a:lnSpc>
                <a:spcPts val="2400"/>
              </a:lnSpc>
            </a:pPr>
            <a:r>
              <a:rPr lang="vi-VN" sz="1500" b="0" i="0" u="none">
                <a:solidFill>
                  <a:srgbClr val="334155"/>
                </a:solidFill>
                <a:latin typeface="Lato"/>
              </a:rPr>
              <a:t>Dữ liệu liên quan đến nhà ở đang gia tăng nhanh chóng cả về khối lượng lẫn độ phức tạp. Việc định giá và dự đoán chính xác giá nhà mang ý nghĩa rất quan trọng đối với thị trường bất động sản.</a:t>
            </a:r>
          </a:p>
        </p:txBody>
      </p:sp>
      <p:sp>
        <p:nvSpPr>
          <p:cNvPr id="6" name="TextBox 5"/>
          <p:cNvSpPr txBox="1"/>
          <p:nvPr/>
        </p:nvSpPr>
        <p:spPr>
          <a:xfrm>
            <a:off x="711764" y="2822883"/>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7" name="TextBox 6"/>
          <p:cNvSpPr txBox="1"/>
          <p:nvPr/>
        </p:nvSpPr>
        <p:spPr>
          <a:xfrm>
            <a:off x="828675" y="2760168"/>
            <a:ext cx="5286374" cy="579582"/>
          </a:xfrm>
          <a:prstGeom prst="rect">
            <a:avLst/>
          </a:prstGeom>
          <a:noFill/>
        </p:spPr>
        <p:txBody>
          <a:bodyPr wrap="square" lIns="114300" tIns="0" rIns="0" bIns="0" anchor="t">
            <a:spAutoFit/>
          </a:bodyPr>
          <a:lstStyle/>
          <a:p>
            <a:pPr algn="l">
              <a:lnSpc>
                <a:spcPts val="2400"/>
              </a:lnSpc>
            </a:pPr>
            <a:r>
              <a:rPr sz="1500" b="0" i="0" u="none">
                <a:solidFill>
                  <a:srgbClr val="334155"/>
                </a:solidFill>
                <a:latin typeface="Lato"/>
              </a:rPr>
              <a:t>Giá nhà chịu sự chi phối của nhiều yếu tố đa dạng: vị trí, diện tích, mặt tiền, số phòng, v.v.</a:t>
            </a:r>
          </a:p>
        </p:txBody>
      </p:sp>
      <p:sp>
        <p:nvSpPr>
          <p:cNvPr id="8" name="TextBox 7"/>
          <p:cNvSpPr txBox="1"/>
          <p:nvPr/>
        </p:nvSpPr>
        <p:spPr>
          <a:xfrm>
            <a:off x="711764" y="3575358"/>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9" name="TextBox 8"/>
          <p:cNvSpPr txBox="1"/>
          <p:nvPr/>
        </p:nvSpPr>
        <p:spPr>
          <a:xfrm>
            <a:off x="828675" y="3512643"/>
            <a:ext cx="5437414" cy="1200265"/>
          </a:xfrm>
          <a:prstGeom prst="rect">
            <a:avLst/>
          </a:prstGeom>
          <a:noFill/>
        </p:spPr>
        <p:txBody>
          <a:bodyPr wrap="square" lIns="114300" tIns="0" rIns="0" bIns="0" anchor="t">
            <a:spAutoFit/>
          </a:bodyPr>
          <a:lstStyle/>
          <a:p>
            <a:pPr algn="l">
              <a:lnSpc>
                <a:spcPts val="2400"/>
              </a:lnSpc>
            </a:pPr>
            <a:r>
              <a:rPr sz="1500" b="1" i="0" u="none">
                <a:solidFill>
                  <a:srgbClr val="334155"/>
                </a:solidFill>
                <a:latin typeface="Lato"/>
              </a:rPr>
              <a:t>Giải pháp:</a:t>
            </a:r>
            <a:r>
              <a:rPr sz="1500" b="0" i="0" u="none">
                <a:solidFill>
                  <a:srgbClr val="334155"/>
                </a:solidFill>
                <a:latin typeface="Lato"/>
              </a:rPr>
              <a:t> </a:t>
            </a:r>
            <a:r>
              <a:rPr lang="vi-VN" sz="1600"/>
              <a:t>Ứng dụng Học máy (Machine Learning), cụ thể là thuật toán Hồi quy tuyến tính (Linear Regression), được lựa chọn vì có tính diễn giải cao, giúp chỉ ra rõ ràng mức độ và chiều hướng tác động của từng yếu tố lên giá nhà.</a:t>
            </a:r>
            <a:endParaRPr sz="1500" b="0" i="0" u="none">
              <a:solidFill>
                <a:srgbClr val="334155"/>
              </a:solidFill>
              <a:latin typeface="Lato"/>
            </a:endParaRPr>
          </a:p>
        </p:txBody>
      </p:sp>
      <p:sp>
        <p:nvSpPr>
          <p:cNvPr id="13" name="TextBox 12"/>
          <p:cNvSpPr txBox="1"/>
          <p:nvPr/>
        </p:nvSpPr>
        <p:spPr>
          <a:xfrm>
            <a:off x="571500" y="571500"/>
            <a:ext cx="11601450" cy="615553"/>
          </a:xfrm>
          <a:prstGeom prst="rect">
            <a:avLst/>
          </a:prstGeom>
          <a:noFill/>
        </p:spPr>
        <p:txBody>
          <a:bodyPr wrap="square" lIns="0" tIns="0" rIns="0" bIns="0" anchor="t">
            <a:spAutoFit/>
          </a:bodyPr>
          <a:lstStyle/>
          <a:p>
            <a:pPr algn="l"/>
            <a:r>
              <a:rPr sz="4000" b="1" i="0" u="none">
                <a:solidFill>
                  <a:srgbClr val="0B2F5C"/>
                </a:solidFill>
                <a:latin typeface="Cambria" panose="02040503050406030204" pitchFamily="18" charset="0"/>
                <a:ea typeface="Cambria" panose="02040503050406030204" pitchFamily="18" charset="0"/>
              </a:rPr>
              <a:t>Đặt vấn đề</a:t>
            </a:r>
          </a:p>
        </p:txBody>
      </p:sp>
      <p:pic>
        <p:nvPicPr>
          <p:cNvPr id="1028" name="Picture 4" descr="SuNT's Blog | AI in Practical">
            <a:extLst>
              <a:ext uri="{FF2B5EF4-FFF2-40B4-BE49-F238E27FC236}">
                <a16:creationId xmlns:a16="http://schemas.microsoft.com/office/drawing/2014/main" id="{D5C38B85-1FF3-8D13-B63F-534C9CA2EC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225" y="969071"/>
            <a:ext cx="5161189" cy="38911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552575"/>
            <a:ext cx="5286375" cy="3409950"/>
          </a:xfrm>
          <a:prstGeom prst="rect">
            <a:avLst/>
          </a:prstGeom>
        </p:spPr>
      </p:pic>
      <p:pic>
        <p:nvPicPr>
          <p:cNvPr id="4" name="Picture 3" descr="image.png"/>
          <p:cNvPicPr>
            <a:picLocks noChangeAspect="1"/>
          </p:cNvPicPr>
          <p:nvPr/>
        </p:nvPicPr>
        <p:blipFill>
          <a:blip r:embed="rId4"/>
          <a:stretch>
            <a:fillRect/>
          </a:stretch>
        </p:blipFill>
        <p:spPr>
          <a:xfrm>
            <a:off x="6334125" y="1552575"/>
            <a:ext cx="5286375" cy="3409950"/>
          </a:xfrm>
          <a:prstGeom prst="rect">
            <a:avLst/>
          </a:prstGeom>
        </p:spPr>
      </p:pic>
      <p:sp>
        <p:nvSpPr>
          <p:cNvPr id="5" name="TextBox 4"/>
          <p:cNvSpPr txBox="1"/>
          <p:nvPr/>
        </p:nvSpPr>
        <p:spPr>
          <a:xfrm>
            <a:off x="962025" y="1943100"/>
            <a:ext cx="4730591" cy="369332"/>
          </a:xfrm>
          <a:prstGeom prst="rect">
            <a:avLst/>
          </a:prstGeom>
          <a:noFill/>
        </p:spPr>
        <p:txBody>
          <a:bodyPr wrap="square" lIns="342900" tIns="0" rIns="0" bIns="0" anchor="t">
            <a:spAutoFit/>
          </a:bodyPr>
          <a:lstStyle/>
          <a:p>
            <a:pPr algn="l"/>
            <a:r>
              <a:rPr sz="2400" b="1" i="0" u="none">
                <a:solidFill>
                  <a:srgbClr val="0B2F5C"/>
                </a:solidFill>
                <a:latin typeface="+mj-lt"/>
              </a:rPr>
              <a:t>Mục tiêu</a:t>
            </a:r>
          </a:p>
        </p:txBody>
      </p:sp>
      <p:sp>
        <p:nvSpPr>
          <p:cNvPr id="6" name="Rectangle 5"/>
          <p:cNvSpPr/>
          <p:nvPr/>
        </p:nvSpPr>
        <p:spPr>
          <a:xfrm>
            <a:off x="962025" y="2409825"/>
            <a:ext cx="4505325" cy="19050"/>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24650" y="1943100"/>
            <a:ext cx="4730591" cy="369332"/>
          </a:xfrm>
          <a:prstGeom prst="rect">
            <a:avLst/>
          </a:prstGeom>
          <a:noFill/>
        </p:spPr>
        <p:txBody>
          <a:bodyPr wrap="square" lIns="342900" tIns="0" rIns="0" bIns="0" anchor="t">
            <a:spAutoFit/>
          </a:bodyPr>
          <a:lstStyle/>
          <a:p>
            <a:pPr algn="l"/>
            <a:r>
              <a:rPr sz="2400" b="1" i="0" u="none">
                <a:solidFill>
                  <a:srgbClr val="0B2F5C"/>
                </a:solidFill>
                <a:latin typeface="+mj-lt"/>
              </a:rPr>
              <a:t>Phạm vi</a:t>
            </a:r>
          </a:p>
        </p:txBody>
      </p:sp>
      <p:sp>
        <p:nvSpPr>
          <p:cNvPr id="8" name="Rectangle 7"/>
          <p:cNvSpPr/>
          <p:nvPr/>
        </p:nvSpPr>
        <p:spPr>
          <a:xfrm>
            <a:off x="6724650" y="2409825"/>
            <a:ext cx="4505325" cy="19050"/>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5"/>
          <a:stretch>
            <a:fillRect/>
          </a:stretch>
        </p:blipFill>
        <p:spPr>
          <a:xfrm>
            <a:off x="962025" y="2000250"/>
            <a:ext cx="247650" cy="247650"/>
          </a:xfrm>
          <a:prstGeom prst="rect">
            <a:avLst/>
          </a:prstGeom>
        </p:spPr>
      </p:pic>
      <p:sp>
        <p:nvSpPr>
          <p:cNvPr id="11" name="TextBox 10"/>
          <p:cNvSpPr txBox="1"/>
          <p:nvPr/>
        </p:nvSpPr>
        <p:spPr>
          <a:xfrm>
            <a:off x="962025" y="2597583"/>
            <a:ext cx="4267200" cy="579582"/>
          </a:xfrm>
          <a:prstGeom prst="rect">
            <a:avLst/>
          </a:prstGeom>
          <a:noFill/>
        </p:spPr>
        <p:txBody>
          <a:bodyPr wrap="square" lIns="114300" tIns="0" rIns="0" bIns="0" anchor="t">
            <a:spAutoFit/>
          </a:bodyPr>
          <a:lstStyle/>
          <a:p>
            <a:pPr marL="285750" indent="-285750" algn="l">
              <a:lnSpc>
                <a:spcPts val="2400"/>
              </a:lnSpc>
              <a:buFont typeface="Arial" panose="020B0604020202020204" pitchFamily="34" charset="0"/>
              <a:buChar char="•"/>
            </a:pPr>
            <a:r>
              <a:rPr sz="1500" b="0" i="0" u="none">
                <a:solidFill>
                  <a:srgbClr val="334155"/>
                </a:solidFill>
                <a:latin typeface="Lato"/>
              </a:rPr>
              <a:t>Phân tích, tiền xử lý và làm sạch bộ dữ liệu nhà</a:t>
            </a:r>
            <a:r>
              <a:rPr lang="en-US" sz="1500" b="0" i="0" u="none">
                <a:solidFill>
                  <a:srgbClr val="334155"/>
                </a:solidFill>
                <a:latin typeface="Lato"/>
              </a:rPr>
              <a:t> đất.</a:t>
            </a:r>
            <a:endParaRPr sz="1500" b="0" i="0" u="none">
              <a:solidFill>
                <a:srgbClr val="334155"/>
              </a:solidFill>
              <a:latin typeface="Lato"/>
            </a:endParaRPr>
          </a:p>
        </p:txBody>
      </p:sp>
      <p:sp>
        <p:nvSpPr>
          <p:cNvPr id="13" name="TextBox 12"/>
          <p:cNvSpPr txBox="1"/>
          <p:nvPr/>
        </p:nvSpPr>
        <p:spPr>
          <a:xfrm>
            <a:off x="955595" y="3159559"/>
            <a:ext cx="4267200" cy="887359"/>
          </a:xfrm>
          <a:prstGeom prst="rect">
            <a:avLst/>
          </a:prstGeom>
          <a:noFill/>
        </p:spPr>
        <p:txBody>
          <a:bodyPr wrap="square" lIns="114300" tIns="0" rIns="0" bIns="0" anchor="t">
            <a:spAutoFit/>
          </a:bodyPr>
          <a:lstStyle/>
          <a:p>
            <a:pPr marL="285750" indent="-285750" algn="l">
              <a:lnSpc>
                <a:spcPts val="2400"/>
              </a:lnSpc>
              <a:buFont typeface="Arial" panose="020B0604020202020204" pitchFamily="34" charset="0"/>
              <a:buChar char="•"/>
            </a:pPr>
            <a:r>
              <a:rPr sz="1500" b="0" i="0" u="none">
                <a:solidFill>
                  <a:srgbClr val="334155"/>
                </a:solidFill>
                <a:latin typeface="Lato"/>
              </a:rPr>
              <a:t>Xây dựng &amp; huấn luyện mô hình Linear Regression (bao gồm các biến thể Ridge, Lasso).</a:t>
            </a:r>
          </a:p>
        </p:txBody>
      </p:sp>
      <p:sp>
        <p:nvSpPr>
          <p:cNvPr id="15" name="TextBox 14"/>
          <p:cNvSpPr txBox="1"/>
          <p:nvPr/>
        </p:nvSpPr>
        <p:spPr>
          <a:xfrm>
            <a:off x="962025" y="4088824"/>
            <a:ext cx="4267200" cy="579582"/>
          </a:xfrm>
          <a:prstGeom prst="rect">
            <a:avLst/>
          </a:prstGeom>
          <a:noFill/>
        </p:spPr>
        <p:txBody>
          <a:bodyPr wrap="square" lIns="114300" tIns="0" rIns="0" bIns="0" anchor="t">
            <a:spAutoFit/>
          </a:bodyPr>
          <a:lstStyle/>
          <a:p>
            <a:pPr marL="285750" indent="-285750" algn="l">
              <a:lnSpc>
                <a:spcPts val="2400"/>
              </a:lnSpc>
              <a:buFont typeface="Arial" panose="020B0604020202020204" pitchFamily="34" charset="0"/>
              <a:buChar char="•"/>
            </a:pPr>
            <a:r>
              <a:rPr sz="1500" b="0" i="0" u="none">
                <a:solidFill>
                  <a:srgbClr val="334155"/>
                </a:solidFill>
                <a:latin typeface="Lato"/>
              </a:rPr>
              <a:t>Xây dựng giao diện Web (Streamlit) để trực quan hóa dự đoán một cách trực quan.</a:t>
            </a:r>
          </a:p>
        </p:txBody>
      </p:sp>
      <p:pic>
        <p:nvPicPr>
          <p:cNvPr id="16" name="Picture 15" descr="image.png"/>
          <p:cNvPicPr>
            <a:picLocks noChangeAspect="1"/>
          </p:cNvPicPr>
          <p:nvPr/>
        </p:nvPicPr>
        <p:blipFill>
          <a:blip r:embed="rId6"/>
          <a:stretch>
            <a:fillRect/>
          </a:stretch>
        </p:blipFill>
        <p:spPr>
          <a:xfrm>
            <a:off x="6724650" y="2000250"/>
            <a:ext cx="247650" cy="247650"/>
          </a:xfrm>
          <a:prstGeom prst="rect">
            <a:avLst/>
          </a:prstGeom>
        </p:spPr>
      </p:pic>
      <p:sp>
        <p:nvSpPr>
          <p:cNvPr id="17" name="TextBox 16"/>
          <p:cNvSpPr txBox="1"/>
          <p:nvPr/>
        </p:nvSpPr>
        <p:spPr>
          <a:xfrm>
            <a:off x="6848475" y="2619375"/>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18" name="TextBox 17"/>
          <p:cNvSpPr txBox="1"/>
          <p:nvPr/>
        </p:nvSpPr>
        <p:spPr>
          <a:xfrm>
            <a:off x="6962775" y="2619375"/>
            <a:ext cx="4267200" cy="304800"/>
          </a:xfrm>
          <a:prstGeom prst="rect">
            <a:avLst/>
          </a:prstGeom>
          <a:noFill/>
        </p:spPr>
        <p:txBody>
          <a:bodyPr wrap="square" lIns="114300" tIns="0" rIns="0" bIns="0" anchor="t">
            <a:spAutoFit/>
          </a:bodyPr>
          <a:lstStyle/>
          <a:p>
            <a:pPr algn="l">
              <a:lnSpc>
                <a:spcPts val="2400"/>
              </a:lnSpc>
            </a:pPr>
            <a:r>
              <a:rPr sz="1500" b="1" i="0" u="none">
                <a:solidFill>
                  <a:srgbClr val="334155"/>
                </a:solidFill>
                <a:latin typeface="Lato"/>
              </a:rPr>
              <a:t>Dữ liệu:</a:t>
            </a:r>
            <a:r>
              <a:rPr sz="1500" b="0" i="0" u="none">
                <a:solidFill>
                  <a:srgbClr val="334155"/>
                </a:solidFill>
                <a:latin typeface="Lato"/>
              </a:rPr>
              <a:t> Vietnam Housing Dataset 2024 (Kaggle).</a:t>
            </a:r>
          </a:p>
        </p:txBody>
      </p:sp>
      <p:sp>
        <p:nvSpPr>
          <p:cNvPr id="19" name="TextBox 18"/>
          <p:cNvSpPr txBox="1"/>
          <p:nvPr/>
        </p:nvSpPr>
        <p:spPr>
          <a:xfrm>
            <a:off x="6848475" y="3067050"/>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20" name="TextBox 19"/>
          <p:cNvSpPr txBox="1"/>
          <p:nvPr/>
        </p:nvSpPr>
        <p:spPr>
          <a:xfrm>
            <a:off x="6962775" y="3067050"/>
            <a:ext cx="4267200" cy="914400"/>
          </a:xfrm>
          <a:prstGeom prst="rect">
            <a:avLst/>
          </a:prstGeom>
          <a:noFill/>
        </p:spPr>
        <p:txBody>
          <a:bodyPr wrap="square" lIns="114300" tIns="0" rIns="0" bIns="0" anchor="t">
            <a:spAutoFit/>
          </a:bodyPr>
          <a:lstStyle/>
          <a:p>
            <a:pPr algn="l">
              <a:lnSpc>
                <a:spcPts val="2400"/>
              </a:lnSpc>
            </a:pPr>
            <a:r>
              <a:rPr sz="1500" b="1" i="0" u="none">
                <a:solidFill>
                  <a:srgbClr val="334155"/>
                </a:solidFill>
                <a:latin typeface="Lato"/>
              </a:rPr>
              <a:t>Thuật toán:</a:t>
            </a:r>
            <a:r>
              <a:rPr sz="1500" b="0" i="0" u="none">
                <a:solidFill>
                  <a:srgbClr val="334155"/>
                </a:solidFill>
                <a:latin typeface="Lato"/>
              </a:rPr>
              <a:t> Giới hạn ở nhóm mô hình Tuyến tính (Linear, Ridge, Lasso) phục vụ mục đích nghiên cứu học thuật và hiểu sâu bản chất.</a:t>
            </a:r>
          </a:p>
        </p:txBody>
      </p:sp>
      <p:sp>
        <p:nvSpPr>
          <p:cNvPr id="21" name="TextBox 20"/>
          <p:cNvSpPr txBox="1"/>
          <p:nvPr/>
        </p:nvSpPr>
        <p:spPr>
          <a:xfrm>
            <a:off x="571500" y="571500"/>
            <a:ext cx="11601450" cy="615553"/>
          </a:xfrm>
          <a:prstGeom prst="rect">
            <a:avLst/>
          </a:prstGeom>
          <a:noFill/>
        </p:spPr>
        <p:txBody>
          <a:bodyPr wrap="square" lIns="0" tIns="0" rIns="0" bIns="0" anchor="t">
            <a:spAutoFit/>
          </a:bodyPr>
          <a:lstStyle/>
          <a:p>
            <a:pPr algn="l"/>
            <a:r>
              <a:rPr lang="en-US" sz="4000" b="1" i="0" u="none">
                <a:solidFill>
                  <a:srgbClr val="0B2F5C"/>
                </a:solidFill>
                <a:latin typeface="Cambria" panose="02040503050406030204" pitchFamily="18" charset="0"/>
                <a:ea typeface="Cambria" panose="02040503050406030204" pitchFamily="18" charset="0"/>
              </a:rPr>
              <a:t>Mục tiêu &amp; Phạm vi nghiên cứu</a:t>
            </a:r>
            <a:endParaRPr sz="4000" b="1" i="0" u="none">
              <a:solidFill>
                <a:srgbClr val="0B2F5C"/>
              </a:solidFill>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552575"/>
            <a:ext cx="3492549" cy="4733925"/>
          </a:xfrm>
          <a:prstGeom prst="rect">
            <a:avLst/>
          </a:prstGeom>
        </p:spPr>
      </p:pic>
      <p:pic>
        <p:nvPicPr>
          <p:cNvPr id="4" name="Picture 3" descr="image.png"/>
          <p:cNvPicPr>
            <a:picLocks noChangeAspect="1"/>
          </p:cNvPicPr>
          <p:nvPr/>
        </p:nvPicPr>
        <p:blipFill>
          <a:blip r:embed="rId4"/>
          <a:stretch>
            <a:fillRect/>
          </a:stretch>
        </p:blipFill>
        <p:spPr>
          <a:xfrm>
            <a:off x="4349799" y="1552575"/>
            <a:ext cx="3492549" cy="4733925"/>
          </a:xfrm>
          <a:prstGeom prst="rect">
            <a:avLst/>
          </a:prstGeom>
        </p:spPr>
      </p:pic>
      <p:pic>
        <p:nvPicPr>
          <p:cNvPr id="5" name="Picture 4" descr="image.png"/>
          <p:cNvPicPr>
            <a:picLocks noChangeAspect="1"/>
          </p:cNvPicPr>
          <p:nvPr/>
        </p:nvPicPr>
        <p:blipFill>
          <a:blip r:embed="rId5"/>
          <a:stretch>
            <a:fillRect/>
          </a:stretch>
        </p:blipFill>
        <p:spPr>
          <a:xfrm>
            <a:off x="8128099" y="1552575"/>
            <a:ext cx="3492549" cy="4733925"/>
          </a:xfrm>
          <a:prstGeom prst="rect">
            <a:avLst/>
          </a:prstGeom>
        </p:spPr>
      </p:pic>
      <p:sp>
        <p:nvSpPr>
          <p:cNvPr id="6" name="TextBox 5"/>
          <p:cNvSpPr txBox="1"/>
          <p:nvPr/>
        </p:nvSpPr>
        <p:spPr>
          <a:xfrm>
            <a:off x="794225" y="2581275"/>
            <a:ext cx="3047099" cy="253916"/>
          </a:xfrm>
          <a:prstGeom prst="rect">
            <a:avLst/>
          </a:prstGeom>
          <a:noFill/>
        </p:spPr>
        <p:txBody>
          <a:bodyPr wrap="square" lIns="0" tIns="0" rIns="0" bIns="0" anchor="t">
            <a:spAutoFit/>
          </a:bodyPr>
          <a:lstStyle/>
          <a:p>
            <a:pPr algn="ctr"/>
            <a:r>
              <a:rPr sz="1650" b="1" i="0" u="none">
                <a:solidFill>
                  <a:srgbClr val="0B2F5C"/>
                </a:solidFill>
                <a:latin typeface="Cambria" panose="02040503050406030204" pitchFamily="18" charset="0"/>
                <a:ea typeface="Cambria" panose="02040503050406030204" pitchFamily="18" charset="0"/>
              </a:rPr>
              <a:t>Linear Regression</a:t>
            </a:r>
          </a:p>
        </p:txBody>
      </p:sp>
      <p:sp>
        <p:nvSpPr>
          <p:cNvPr id="7" name="TextBox 6"/>
          <p:cNvSpPr txBox="1"/>
          <p:nvPr/>
        </p:nvSpPr>
        <p:spPr>
          <a:xfrm>
            <a:off x="866775" y="3038475"/>
            <a:ext cx="2901999" cy="1219200"/>
          </a:xfrm>
          <a:prstGeom prst="rect">
            <a:avLst/>
          </a:prstGeom>
          <a:noFill/>
        </p:spPr>
        <p:txBody>
          <a:bodyPr wrap="square" lIns="0" tIns="0" rIns="0" bIns="0" anchor="t">
            <a:spAutoFit/>
          </a:bodyPr>
          <a:lstStyle/>
          <a:p>
            <a:pPr algn="ctr">
              <a:lnSpc>
                <a:spcPts val="2400"/>
              </a:lnSpc>
            </a:pPr>
            <a:r>
              <a:rPr sz="1500" b="0" i="0" u="none">
                <a:solidFill>
                  <a:srgbClr val="334155"/>
                </a:solidFill>
                <a:latin typeface="Lato"/>
              </a:rPr>
              <a:t>Tìm mối quan hệ tuyến tính giữa đặc trưng (X) và giá nhà (y). Hàm mục tiêu là tối thiểu hóa tổng bình phương sai số.</a:t>
            </a:r>
          </a:p>
        </p:txBody>
      </p:sp>
      <p:sp>
        <p:nvSpPr>
          <p:cNvPr id="8" name="TextBox 7"/>
          <p:cNvSpPr txBox="1"/>
          <p:nvPr/>
        </p:nvSpPr>
        <p:spPr>
          <a:xfrm>
            <a:off x="4572524" y="2581275"/>
            <a:ext cx="3047099" cy="253916"/>
          </a:xfrm>
          <a:prstGeom prst="rect">
            <a:avLst/>
          </a:prstGeom>
          <a:noFill/>
        </p:spPr>
        <p:txBody>
          <a:bodyPr wrap="square" lIns="0" tIns="0" rIns="0" bIns="0" anchor="t">
            <a:spAutoFit/>
          </a:bodyPr>
          <a:lstStyle/>
          <a:p>
            <a:pPr algn="ctr"/>
            <a:r>
              <a:rPr sz="1650" b="1" i="0" u="none">
                <a:solidFill>
                  <a:srgbClr val="0B2F5C"/>
                </a:solidFill>
                <a:latin typeface="Cambria" panose="02040503050406030204" pitchFamily="18" charset="0"/>
                <a:ea typeface="Cambria" panose="02040503050406030204" pitchFamily="18" charset="0"/>
              </a:rPr>
              <a:t>Biến thể hiệu chỉnh</a:t>
            </a:r>
          </a:p>
        </p:txBody>
      </p:sp>
      <p:sp>
        <p:nvSpPr>
          <p:cNvPr id="9" name="TextBox 8"/>
          <p:cNvSpPr txBox="1"/>
          <p:nvPr/>
        </p:nvSpPr>
        <p:spPr>
          <a:xfrm>
            <a:off x="4645074" y="3038475"/>
            <a:ext cx="2901999" cy="1524000"/>
          </a:xfrm>
          <a:prstGeom prst="rect">
            <a:avLst/>
          </a:prstGeom>
          <a:noFill/>
        </p:spPr>
        <p:txBody>
          <a:bodyPr wrap="square" lIns="0" tIns="0" rIns="0" bIns="0" anchor="t">
            <a:spAutoFit/>
          </a:bodyPr>
          <a:lstStyle/>
          <a:p>
            <a:pPr algn="ctr">
              <a:lnSpc>
                <a:spcPts val="2400"/>
              </a:lnSpc>
            </a:pPr>
            <a:r>
              <a:rPr sz="1500" b="1" i="0" u="none">
                <a:solidFill>
                  <a:srgbClr val="334155"/>
                </a:solidFill>
                <a:latin typeface="Lato"/>
              </a:rPr>
              <a:t>Ridge (L2):</a:t>
            </a:r>
            <a:r>
              <a:rPr sz="1500" b="0" i="0" u="none">
                <a:solidFill>
                  <a:srgbClr val="334155"/>
                </a:solidFill>
                <a:latin typeface="Lato"/>
              </a:rPr>
              <a:t> Giảm Overfitting, xử lý đa cộng tuyến.</a:t>
            </a:r>
            <a:r>
              <a:t>
</a:t>
            </a:r>
            <a:r>
              <a:rPr sz="1500" b="1" i="0" u="none">
                <a:solidFill>
                  <a:srgbClr val="334155"/>
                </a:solidFill>
                <a:latin typeface="Lato"/>
              </a:rPr>
              <a:t>Lasso (L1):</a:t>
            </a:r>
            <a:r>
              <a:rPr sz="1500" b="0" i="0" u="none">
                <a:solidFill>
                  <a:srgbClr val="334155"/>
                </a:solidFill>
                <a:latin typeface="Lato"/>
              </a:rPr>
              <a:t> Tự động chọn lọc đặc trưng quan trọng.</a:t>
            </a:r>
          </a:p>
        </p:txBody>
      </p:sp>
      <p:sp>
        <p:nvSpPr>
          <p:cNvPr id="10" name="TextBox 9"/>
          <p:cNvSpPr txBox="1"/>
          <p:nvPr/>
        </p:nvSpPr>
        <p:spPr>
          <a:xfrm>
            <a:off x="8350824" y="2581275"/>
            <a:ext cx="3047099" cy="253916"/>
          </a:xfrm>
          <a:prstGeom prst="rect">
            <a:avLst/>
          </a:prstGeom>
          <a:noFill/>
        </p:spPr>
        <p:txBody>
          <a:bodyPr wrap="square" lIns="0" tIns="0" rIns="0" bIns="0" anchor="t">
            <a:spAutoFit/>
          </a:bodyPr>
          <a:lstStyle/>
          <a:p>
            <a:pPr algn="ctr"/>
            <a:r>
              <a:rPr sz="1650" b="1" i="0" u="none">
                <a:solidFill>
                  <a:srgbClr val="0B2F5C"/>
                </a:solidFill>
                <a:latin typeface="Cambria" panose="02040503050406030204" pitchFamily="18" charset="0"/>
                <a:ea typeface="Cambria" panose="02040503050406030204" pitchFamily="18" charset="0"/>
              </a:rPr>
              <a:t>Thước đo đánh giá</a:t>
            </a:r>
          </a:p>
        </p:txBody>
      </p:sp>
      <p:sp>
        <p:nvSpPr>
          <p:cNvPr id="11" name="TextBox 10"/>
          <p:cNvSpPr txBox="1"/>
          <p:nvPr/>
        </p:nvSpPr>
        <p:spPr>
          <a:xfrm>
            <a:off x="8423374" y="3038475"/>
            <a:ext cx="2901999" cy="1219200"/>
          </a:xfrm>
          <a:prstGeom prst="rect">
            <a:avLst/>
          </a:prstGeom>
          <a:noFill/>
        </p:spPr>
        <p:txBody>
          <a:bodyPr wrap="square" lIns="0" tIns="0" rIns="0" bIns="0" anchor="t">
            <a:spAutoFit/>
          </a:bodyPr>
          <a:lstStyle/>
          <a:p>
            <a:pPr algn="ctr">
              <a:lnSpc>
                <a:spcPts val="2400"/>
              </a:lnSpc>
            </a:pPr>
            <a:r>
              <a:rPr sz="1500" b="1" i="0" u="none">
                <a:solidFill>
                  <a:srgbClr val="334155"/>
                </a:solidFill>
                <a:latin typeface="Lato"/>
              </a:rPr>
              <a:t>RMSE:</a:t>
            </a:r>
            <a:r>
              <a:rPr sz="1500" b="0" i="0" u="none">
                <a:solidFill>
                  <a:srgbClr val="334155"/>
                </a:solidFill>
                <a:latin typeface="Lato"/>
              </a:rPr>
              <a:t> Đo sai số dự đoán trung bình.</a:t>
            </a:r>
            <a:r>
              <a:t>
</a:t>
            </a:r>
            <a:r>
              <a:rPr sz="1500" b="1" i="0" u="none">
                <a:solidFill>
                  <a:srgbClr val="334155"/>
                </a:solidFill>
                <a:latin typeface="Lato"/>
              </a:rPr>
              <a:t>R²:</a:t>
            </a:r>
            <a:r>
              <a:rPr sz="1500" b="0" i="0" u="none">
                <a:solidFill>
                  <a:srgbClr val="334155"/>
                </a:solidFill>
                <a:latin typeface="Lato"/>
              </a:rPr>
              <a:t> Tỉ lệ phương sai được giải thích.</a:t>
            </a:r>
            <a:r>
              <a:t>
</a:t>
            </a:r>
            <a:r>
              <a:rPr sz="1500" b="1" i="0" u="none">
                <a:solidFill>
                  <a:srgbClr val="334155"/>
                </a:solidFill>
                <a:latin typeface="Lato"/>
              </a:rPr>
              <a:t>MAE:</a:t>
            </a:r>
            <a:r>
              <a:rPr sz="1500" b="0" i="0" u="none">
                <a:solidFill>
                  <a:srgbClr val="334155"/>
                </a:solidFill>
                <a:latin typeface="Lato"/>
              </a:rPr>
              <a:t> Sai số tuyệt đối trung bình.</a:t>
            </a:r>
          </a:p>
        </p:txBody>
      </p:sp>
      <p:pic>
        <p:nvPicPr>
          <p:cNvPr id="12" name="Picture 11" descr="image.png"/>
          <p:cNvPicPr>
            <a:picLocks noChangeAspect="1"/>
          </p:cNvPicPr>
          <p:nvPr/>
        </p:nvPicPr>
        <p:blipFill>
          <a:blip r:embed="rId6"/>
          <a:stretch>
            <a:fillRect/>
          </a:stretch>
        </p:blipFill>
        <p:spPr>
          <a:xfrm>
            <a:off x="2089100" y="1895475"/>
            <a:ext cx="457200" cy="457200"/>
          </a:xfrm>
          <a:prstGeom prst="rect">
            <a:avLst/>
          </a:prstGeom>
        </p:spPr>
      </p:pic>
      <p:pic>
        <p:nvPicPr>
          <p:cNvPr id="13" name="Picture 12" descr="image.png"/>
          <p:cNvPicPr>
            <a:picLocks noChangeAspect="1"/>
          </p:cNvPicPr>
          <p:nvPr/>
        </p:nvPicPr>
        <p:blipFill>
          <a:blip r:embed="rId7"/>
          <a:stretch>
            <a:fillRect/>
          </a:stretch>
        </p:blipFill>
        <p:spPr>
          <a:xfrm>
            <a:off x="5838825" y="1895475"/>
            <a:ext cx="514350" cy="457200"/>
          </a:xfrm>
          <a:prstGeom prst="rect">
            <a:avLst/>
          </a:prstGeom>
        </p:spPr>
      </p:pic>
      <p:pic>
        <p:nvPicPr>
          <p:cNvPr id="14" name="Picture 13" descr="image.png"/>
          <p:cNvPicPr>
            <a:picLocks noChangeAspect="1"/>
          </p:cNvPicPr>
          <p:nvPr/>
        </p:nvPicPr>
        <p:blipFill>
          <a:blip r:embed="rId8"/>
          <a:stretch>
            <a:fillRect/>
          </a:stretch>
        </p:blipFill>
        <p:spPr>
          <a:xfrm>
            <a:off x="9645699" y="1895475"/>
            <a:ext cx="457200" cy="457200"/>
          </a:xfrm>
          <a:prstGeom prst="rect">
            <a:avLst/>
          </a:prstGeom>
        </p:spPr>
      </p:pic>
      <p:sp>
        <p:nvSpPr>
          <p:cNvPr id="15" name="TextBox 14"/>
          <p:cNvSpPr txBox="1"/>
          <p:nvPr/>
        </p:nvSpPr>
        <p:spPr>
          <a:xfrm>
            <a:off x="571500" y="571500"/>
            <a:ext cx="11601450" cy="615553"/>
          </a:xfrm>
          <a:prstGeom prst="rect">
            <a:avLst/>
          </a:prstGeom>
          <a:noFill/>
        </p:spPr>
        <p:txBody>
          <a:bodyPr wrap="square" lIns="0" tIns="0" rIns="0" bIns="0" anchor="t">
            <a:spAutoFit/>
          </a:bodyPr>
          <a:lstStyle/>
          <a:p>
            <a:pPr algn="l"/>
            <a:r>
              <a:rPr lang="en-US" sz="4000" b="1" i="0" u="none">
                <a:solidFill>
                  <a:srgbClr val="0B2F5C"/>
                </a:solidFill>
                <a:latin typeface="Cambria" panose="02040503050406030204" pitchFamily="18" charset="0"/>
                <a:ea typeface="Cambria" panose="02040503050406030204" pitchFamily="18" charset="0"/>
              </a:rPr>
              <a:t>Tổng</a:t>
            </a:r>
            <a:r>
              <a:rPr lang="en-US" sz="3200" b="1" i="0" u="none">
                <a:solidFill>
                  <a:srgbClr val="0B2F5C"/>
                </a:solidFill>
                <a:latin typeface="Cambria" panose="02040503050406030204" pitchFamily="18" charset="0"/>
                <a:ea typeface="Cambria" panose="02040503050406030204" pitchFamily="18" charset="0"/>
              </a:rPr>
              <a:t> quan thuật toán</a:t>
            </a:r>
            <a:endParaRPr sz="3200" b="1" i="0" u="none">
              <a:solidFill>
                <a:srgbClr val="0B2F5C"/>
              </a:solidFill>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1552575"/>
            <a:ext cx="5286375" cy="3810000"/>
          </a:xfrm>
          <a:prstGeom prst="rect">
            <a:avLst/>
          </a:prstGeom>
        </p:spPr>
      </p:pic>
      <p:sp>
        <p:nvSpPr>
          <p:cNvPr id="4" name="TextBox 3"/>
          <p:cNvSpPr txBox="1"/>
          <p:nvPr/>
        </p:nvSpPr>
        <p:spPr>
          <a:xfrm>
            <a:off x="571500" y="1552575"/>
            <a:ext cx="5550693" cy="371475"/>
          </a:xfrm>
          <a:prstGeom prst="rect">
            <a:avLst/>
          </a:prstGeom>
          <a:noFill/>
        </p:spPr>
        <p:txBody>
          <a:bodyPr wrap="square" lIns="0" tIns="0" rIns="0" bIns="0" anchor="t">
            <a:spAutoFit/>
          </a:bodyPr>
          <a:lstStyle/>
          <a:p>
            <a:pPr algn="l"/>
            <a:r>
              <a:rPr sz="1950" b="0" i="0" u="none">
                <a:solidFill>
                  <a:srgbClr val="0B2F5C"/>
                </a:solidFill>
                <a:latin typeface="Poppins SemiBold"/>
              </a:rPr>
              <a:t>Vietnam Housing Dataset 2024</a:t>
            </a:r>
          </a:p>
        </p:txBody>
      </p:sp>
      <p:sp>
        <p:nvSpPr>
          <p:cNvPr id="5" name="TextBox 4"/>
          <p:cNvSpPr txBox="1"/>
          <p:nvPr/>
        </p:nvSpPr>
        <p:spPr>
          <a:xfrm>
            <a:off x="571500" y="2066925"/>
            <a:ext cx="5404757" cy="271806"/>
          </a:xfrm>
          <a:prstGeom prst="rect">
            <a:avLst/>
          </a:prstGeom>
          <a:noFill/>
        </p:spPr>
        <p:txBody>
          <a:bodyPr wrap="square" lIns="0" tIns="0" rIns="0" bIns="0" anchor="t">
            <a:spAutoFit/>
          </a:bodyPr>
          <a:lstStyle/>
          <a:p>
            <a:pPr algn="l">
              <a:lnSpc>
                <a:spcPts val="2400"/>
              </a:lnSpc>
            </a:pPr>
            <a:r>
              <a:rPr sz="1500" b="0" i="0" u="none">
                <a:solidFill>
                  <a:srgbClr val="334155"/>
                </a:solidFill>
                <a:latin typeface="Lato"/>
              </a:rPr>
              <a:t>Bộ dữ liệu phản ánh sát thực tế thị trường nhà đất tại Việt Nam.</a:t>
            </a:r>
          </a:p>
        </p:txBody>
      </p:sp>
      <p:sp>
        <p:nvSpPr>
          <p:cNvPr id="6" name="TextBox 5"/>
          <p:cNvSpPr txBox="1"/>
          <p:nvPr/>
        </p:nvSpPr>
        <p:spPr>
          <a:xfrm>
            <a:off x="695325" y="2514600"/>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7" name="TextBox 6"/>
          <p:cNvSpPr txBox="1"/>
          <p:nvPr/>
        </p:nvSpPr>
        <p:spPr>
          <a:xfrm>
            <a:off x="809625" y="2514600"/>
            <a:ext cx="5048250" cy="304800"/>
          </a:xfrm>
          <a:prstGeom prst="rect">
            <a:avLst/>
          </a:prstGeom>
          <a:noFill/>
        </p:spPr>
        <p:txBody>
          <a:bodyPr wrap="square" lIns="114300" tIns="0" rIns="0" bIns="0" anchor="t">
            <a:spAutoFit/>
          </a:bodyPr>
          <a:lstStyle/>
          <a:p>
            <a:pPr algn="l">
              <a:lnSpc>
                <a:spcPts val="2400"/>
              </a:lnSpc>
            </a:pPr>
            <a:r>
              <a:rPr sz="1500" b="1" i="0" u="none">
                <a:solidFill>
                  <a:srgbClr val="334155"/>
                </a:solidFill>
                <a:latin typeface="Lato"/>
              </a:rPr>
              <a:t>Nguồn gốc:</a:t>
            </a:r>
            <a:r>
              <a:rPr sz="1500" b="0" i="0" u="none">
                <a:solidFill>
                  <a:srgbClr val="334155"/>
                </a:solidFill>
                <a:latin typeface="Lato"/>
              </a:rPr>
              <a:t> Kaggle (Được thu thập từ Batdongsan.vn).</a:t>
            </a:r>
          </a:p>
        </p:txBody>
      </p:sp>
      <p:sp>
        <p:nvSpPr>
          <p:cNvPr id="8" name="TextBox 7"/>
          <p:cNvSpPr txBox="1"/>
          <p:nvPr/>
        </p:nvSpPr>
        <p:spPr>
          <a:xfrm>
            <a:off x="695325" y="2962275"/>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9" name="TextBox 8"/>
          <p:cNvSpPr txBox="1"/>
          <p:nvPr/>
        </p:nvSpPr>
        <p:spPr>
          <a:xfrm>
            <a:off x="809625" y="2962275"/>
            <a:ext cx="5048250" cy="304800"/>
          </a:xfrm>
          <a:prstGeom prst="rect">
            <a:avLst/>
          </a:prstGeom>
          <a:noFill/>
        </p:spPr>
        <p:txBody>
          <a:bodyPr wrap="square" lIns="114300" tIns="0" rIns="0" bIns="0" anchor="t">
            <a:spAutoFit/>
          </a:bodyPr>
          <a:lstStyle/>
          <a:p>
            <a:pPr algn="l">
              <a:lnSpc>
                <a:spcPts val="2400"/>
              </a:lnSpc>
            </a:pPr>
            <a:r>
              <a:rPr sz="1500" b="1" i="0" u="none">
                <a:solidFill>
                  <a:srgbClr val="334155"/>
                </a:solidFill>
                <a:latin typeface="Lato"/>
              </a:rPr>
              <a:t>Số lượng mẫu:</a:t>
            </a:r>
            <a:r>
              <a:rPr sz="1500" b="0" i="0" u="none">
                <a:solidFill>
                  <a:srgbClr val="334155"/>
                </a:solidFill>
                <a:latin typeface="Lato"/>
              </a:rPr>
              <a:t> Đa dạng các loại hình bất động sản.</a:t>
            </a:r>
          </a:p>
        </p:txBody>
      </p:sp>
      <p:sp>
        <p:nvSpPr>
          <p:cNvPr id="10" name="TextBox 9"/>
          <p:cNvSpPr txBox="1"/>
          <p:nvPr/>
        </p:nvSpPr>
        <p:spPr>
          <a:xfrm>
            <a:off x="695325" y="3409950"/>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11" name="TextBox 10"/>
          <p:cNvSpPr txBox="1"/>
          <p:nvPr/>
        </p:nvSpPr>
        <p:spPr>
          <a:xfrm>
            <a:off x="809625" y="3409950"/>
            <a:ext cx="5048250" cy="1362075"/>
          </a:xfrm>
          <a:prstGeom prst="rect">
            <a:avLst/>
          </a:prstGeom>
          <a:noFill/>
        </p:spPr>
        <p:txBody>
          <a:bodyPr wrap="square" lIns="114300" tIns="0" rIns="0" bIns="0" anchor="t">
            <a:spAutoFit/>
          </a:bodyPr>
          <a:lstStyle/>
          <a:p>
            <a:pPr algn="l">
              <a:lnSpc>
                <a:spcPts val="2400"/>
              </a:lnSpc>
            </a:pPr>
            <a:r>
              <a:rPr sz="1500" b="1" i="0" u="none">
                <a:solidFill>
                  <a:srgbClr val="334155"/>
                </a:solidFill>
                <a:latin typeface="Lato"/>
              </a:rPr>
              <a:t>Đặc trưng (Features):</a:t>
            </a:r>
          </a:p>
        </p:txBody>
      </p:sp>
      <p:sp>
        <p:nvSpPr>
          <p:cNvPr id="12" name="TextBox 11"/>
          <p:cNvSpPr txBox="1"/>
          <p:nvPr/>
        </p:nvSpPr>
        <p:spPr>
          <a:xfrm>
            <a:off x="695325" y="4914900"/>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13" name="TextBox 12"/>
          <p:cNvSpPr txBox="1"/>
          <p:nvPr/>
        </p:nvSpPr>
        <p:spPr>
          <a:xfrm>
            <a:off x="809625" y="4914900"/>
            <a:ext cx="5048250" cy="304800"/>
          </a:xfrm>
          <a:prstGeom prst="rect">
            <a:avLst/>
          </a:prstGeom>
          <a:noFill/>
        </p:spPr>
        <p:txBody>
          <a:bodyPr wrap="square" lIns="114300" tIns="0" rIns="0" bIns="0" anchor="t">
            <a:spAutoFit/>
          </a:bodyPr>
          <a:lstStyle/>
          <a:p>
            <a:pPr algn="l">
              <a:lnSpc>
                <a:spcPts val="2400"/>
              </a:lnSpc>
            </a:pPr>
            <a:r>
              <a:rPr sz="1500" b="1" i="0" u="none">
                <a:solidFill>
                  <a:srgbClr val="334155"/>
                </a:solidFill>
                <a:latin typeface="Lato"/>
              </a:rPr>
              <a:t>Biến mục tiêu (Target):</a:t>
            </a:r>
            <a:r>
              <a:rPr sz="1500" b="0" i="0" u="none">
                <a:solidFill>
                  <a:srgbClr val="334155"/>
                </a:solidFill>
                <a:latin typeface="Lato"/>
              </a:rPr>
              <a:t> Price (Giá nhà - Đơn vị: Tỷ VNĐ).</a:t>
            </a:r>
          </a:p>
        </p:txBody>
      </p:sp>
      <p:sp>
        <p:nvSpPr>
          <p:cNvPr id="16" name="TextBox 15"/>
          <p:cNvSpPr txBox="1"/>
          <p:nvPr/>
        </p:nvSpPr>
        <p:spPr>
          <a:xfrm>
            <a:off x="1047750" y="3714750"/>
            <a:ext cx="4810125" cy="579582"/>
          </a:xfrm>
          <a:prstGeom prst="rect">
            <a:avLst/>
          </a:prstGeom>
          <a:noFill/>
        </p:spPr>
        <p:txBody>
          <a:bodyPr wrap="square" lIns="114300" tIns="0" rIns="0" bIns="0" anchor="t">
            <a:spAutoFit/>
          </a:bodyPr>
          <a:lstStyle/>
          <a:p>
            <a:pPr marL="285750" indent="-285750" algn="l">
              <a:lnSpc>
                <a:spcPts val="2400"/>
              </a:lnSpc>
              <a:buFont typeface="Arial" panose="020B0604020202020204" pitchFamily="34" charset="0"/>
              <a:buChar char="•"/>
            </a:pPr>
            <a:r>
              <a:rPr sz="1500" b="1" i="0" u="none">
                <a:solidFill>
                  <a:srgbClr val="334155"/>
                </a:solidFill>
                <a:latin typeface="Lato"/>
              </a:rPr>
              <a:t>Số học:</a:t>
            </a:r>
            <a:r>
              <a:rPr sz="1500" b="0" i="0" u="none">
                <a:solidFill>
                  <a:srgbClr val="334155"/>
                </a:solidFill>
                <a:latin typeface="Lato"/>
              </a:rPr>
              <a:t> Diện tích (Area), Mặt tiền (Frontage), Số tầng, Số phòng...</a:t>
            </a:r>
          </a:p>
        </p:txBody>
      </p:sp>
      <p:sp>
        <p:nvSpPr>
          <p:cNvPr id="18" name="TextBox 17"/>
          <p:cNvSpPr txBox="1"/>
          <p:nvPr/>
        </p:nvSpPr>
        <p:spPr>
          <a:xfrm>
            <a:off x="1047750" y="4397275"/>
            <a:ext cx="4810125" cy="271806"/>
          </a:xfrm>
          <a:prstGeom prst="rect">
            <a:avLst/>
          </a:prstGeom>
          <a:noFill/>
        </p:spPr>
        <p:txBody>
          <a:bodyPr wrap="square" lIns="114300" tIns="0" rIns="0" bIns="0" anchor="t">
            <a:spAutoFit/>
          </a:bodyPr>
          <a:lstStyle/>
          <a:p>
            <a:pPr marL="285750" indent="-285750" algn="l">
              <a:lnSpc>
                <a:spcPts val="2400"/>
              </a:lnSpc>
              <a:buFont typeface="Arial" panose="020B0604020202020204" pitchFamily="34" charset="0"/>
              <a:buChar char="•"/>
            </a:pPr>
            <a:r>
              <a:rPr sz="1500" b="1" i="0" u="none">
                <a:solidFill>
                  <a:srgbClr val="334155"/>
                </a:solidFill>
                <a:latin typeface="Lato"/>
              </a:rPr>
              <a:t>Phân loại:</a:t>
            </a:r>
            <a:r>
              <a:rPr sz="1500" b="0" i="0" u="none">
                <a:solidFill>
                  <a:srgbClr val="334155"/>
                </a:solidFill>
                <a:latin typeface="Lato"/>
              </a:rPr>
              <a:t> Hướng nhà, Pháp lý, Tình trạng nội thất...</a:t>
            </a:r>
          </a:p>
        </p:txBody>
      </p:sp>
      <p:sp>
        <p:nvSpPr>
          <p:cNvPr id="19" name="TextBox 18"/>
          <p:cNvSpPr txBox="1"/>
          <p:nvPr/>
        </p:nvSpPr>
        <p:spPr>
          <a:xfrm>
            <a:off x="571500" y="571500"/>
            <a:ext cx="11601450" cy="484748"/>
          </a:xfrm>
          <a:prstGeom prst="rect">
            <a:avLst/>
          </a:prstGeom>
          <a:noFill/>
        </p:spPr>
        <p:txBody>
          <a:bodyPr wrap="square" lIns="0" tIns="0" rIns="0" bIns="0" anchor="t">
            <a:spAutoFit/>
          </a:bodyPr>
          <a:lstStyle/>
          <a:p>
            <a:pPr algn="l"/>
            <a:r>
              <a:rPr sz="3150" b="1" i="0" u="none">
                <a:solidFill>
                  <a:srgbClr val="0B2F5C"/>
                </a:solidFill>
                <a:latin typeface="Cambria" panose="02040503050406030204" pitchFamily="18" charset="0"/>
                <a:ea typeface="Cambria" panose="02040503050406030204" pitchFamily="18" charset="0"/>
              </a:rPr>
              <a:t>Bộ dữ liệu nghiên cứu</a:t>
            </a:r>
          </a:p>
        </p:txBody>
      </p:sp>
      <p:pic>
        <p:nvPicPr>
          <p:cNvPr id="21" name="Picture 20">
            <a:extLst>
              <a:ext uri="{FF2B5EF4-FFF2-40B4-BE49-F238E27FC236}">
                <a16:creationId xmlns:a16="http://schemas.microsoft.com/office/drawing/2014/main" id="{59F1406B-F376-0ACE-40CF-565BBCFE6613}"/>
              </a:ext>
            </a:extLst>
          </p:cNvPr>
          <p:cNvPicPr>
            <a:picLocks noChangeAspect="1"/>
          </p:cNvPicPr>
          <p:nvPr/>
        </p:nvPicPr>
        <p:blipFill>
          <a:blip r:embed="rId4"/>
          <a:stretch>
            <a:fillRect/>
          </a:stretch>
        </p:blipFill>
        <p:spPr>
          <a:xfrm>
            <a:off x="5986383" y="916045"/>
            <a:ext cx="6075384" cy="47020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552575"/>
            <a:ext cx="5286375" cy="3048000"/>
          </a:xfrm>
          <a:prstGeom prst="rect">
            <a:avLst/>
          </a:prstGeom>
        </p:spPr>
      </p:pic>
      <p:pic>
        <p:nvPicPr>
          <p:cNvPr id="4" name="Picture 3" descr="image.png"/>
          <p:cNvPicPr>
            <a:picLocks noChangeAspect="1"/>
          </p:cNvPicPr>
          <p:nvPr/>
        </p:nvPicPr>
        <p:blipFill>
          <a:blip r:embed="rId3"/>
          <a:stretch>
            <a:fillRect/>
          </a:stretch>
        </p:blipFill>
        <p:spPr>
          <a:xfrm>
            <a:off x="6334125" y="1552575"/>
            <a:ext cx="5286375" cy="3048000"/>
          </a:xfrm>
          <a:prstGeom prst="rect">
            <a:avLst/>
          </a:prstGeom>
        </p:spPr>
      </p:pic>
      <p:sp>
        <p:nvSpPr>
          <p:cNvPr id="5" name="TextBox 4"/>
          <p:cNvSpPr txBox="1"/>
          <p:nvPr/>
        </p:nvSpPr>
        <p:spPr>
          <a:xfrm>
            <a:off x="439340" y="4791075"/>
            <a:ext cx="5550693" cy="369332"/>
          </a:xfrm>
          <a:prstGeom prst="rect">
            <a:avLst/>
          </a:prstGeom>
          <a:noFill/>
        </p:spPr>
        <p:txBody>
          <a:bodyPr wrap="square" lIns="0" tIns="0" rIns="0" bIns="0" anchor="t">
            <a:spAutoFit/>
          </a:bodyPr>
          <a:lstStyle/>
          <a:p>
            <a:pPr algn="ctr"/>
            <a:r>
              <a:rPr sz="2400" b="1" i="0" u="none">
                <a:solidFill>
                  <a:srgbClr val="0B2F5C"/>
                </a:solidFill>
                <a:latin typeface="+mj-lt"/>
              </a:rPr>
              <a:t>Phân phối giá nhà</a:t>
            </a:r>
          </a:p>
        </p:txBody>
      </p:sp>
      <p:sp>
        <p:nvSpPr>
          <p:cNvPr id="6" name="TextBox 5"/>
          <p:cNvSpPr txBox="1"/>
          <p:nvPr/>
        </p:nvSpPr>
        <p:spPr>
          <a:xfrm>
            <a:off x="571500" y="5305425"/>
            <a:ext cx="5286375" cy="609600"/>
          </a:xfrm>
          <a:prstGeom prst="rect">
            <a:avLst/>
          </a:prstGeom>
          <a:noFill/>
        </p:spPr>
        <p:txBody>
          <a:bodyPr wrap="square" lIns="0" tIns="0" rIns="0" bIns="0" anchor="t">
            <a:spAutoFit/>
          </a:bodyPr>
          <a:lstStyle/>
          <a:p>
            <a:pPr algn="ctr">
              <a:lnSpc>
                <a:spcPts val="2400"/>
              </a:lnSpc>
            </a:pPr>
            <a:r>
              <a:rPr sz="1500" b="0" i="0" u="none">
                <a:solidFill>
                  <a:srgbClr val="334155"/>
                </a:solidFill>
                <a:latin typeface="Lato"/>
              </a:rPr>
              <a:t>Giá nhà tập trung chủ yếu từ 4 - 8 tỷ VNĐ. Biến mục tiêu có độ biến thiên cao trong phân khúc này.</a:t>
            </a:r>
          </a:p>
        </p:txBody>
      </p:sp>
      <p:sp>
        <p:nvSpPr>
          <p:cNvPr id="7" name="TextBox 6"/>
          <p:cNvSpPr txBox="1"/>
          <p:nvPr/>
        </p:nvSpPr>
        <p:spPr>
          <a:xfrm>
            <a:off x="6201965" y="4791075"/>
            <a:ext cx="5550693" cy="369332"/>
          </a:xfrm>
          <a:prstGeom prst="rect">
            <a:avLst/>
          </a:prstGeom>
          <a:noFill/>
        </p:spPr>
        <p:txBody>
          <a:bodyPr wrap="square" lIns="0" tIns="0" rIns="0" bIns="0" anchor="t">
            <a:spAutoFit/>
          </a:bodyPr>
          <a:lstStyle/>
          <a:p>
            <a:pPr algn="ctr"/>
            <a:r>
              <a:rPr sz="2400" b="1" i="0" u="none">
                <a:solidFill>
                  <a:srgbClr val="0B2F5C"/>
                </a:solidFill>
                <a:latin typeface="+mj-lt"/>
              </a:rPr>
              <a:t>Ma trận tương quan</a:t>
            </a:r>
          </a:p>
        </p:txBody>
      </p:sp>
      <p:sp>
        <p:nvSpPr>
          <p:cNvPr id="8" name="TextBox 7"/>
          <p:cNvSpPr txBox="1"/>
          <p:nvPr/>
        </p:nvSpPr>
        <p:spPr>
          <a:xfrm>
            <a:off x="6334125" y="5305425"/>
            <a:ext cx="5286375" cy="609600"/>
          </a:xfrm>
          <a:prstGeom prst="rect">
            <a:avLst/>
          </a:prstGeom>
          <a:noFill/>
        </p:spPr>
        <p:txBody>
          <a:bodyPr wrap="square" lIns="0" tIns="0" rIns="0" bIns="0" anchor="t">
            <a:spAutoFit/>
          </a:bodyPr>
          <a:lstStyle/>
          <a:p>
            <a:pPr algn="ctr">
              <a:lnSpc>
                <a:spcPts val="2400"/>
              </a:lnSpc>
            </a:pPr>
            <a:r>
              <a:rPr sz="1500" b="0" i="0" u="none">
                <a:solidFill>
                  <a:srgbClr val="334155"/>
                </a:solidFill>
                <a:latin typeface="Lato"/>
              </a:rPr>
              <a:t>Các yếu tố như Diện tích, Số tầng có ảnh hưởng rõ rệt và tương quan mạnh nhất đến giá nhà.</a:t>
            </a:r>
          </a:p>
        </p:txBody>
      </p:sp>
      <p:sp>
        <p:nvSpPr>
          <p:cNvPr id="11" name="TextBox 10"/>
          <p:cNvSpPr txBox="1"/>
          <p:nvPr/>
        </p:nvSpPr>
        <p:spPr>
          <a:xfrm>
            <a:off x="571500" y="571500"/>
            <a:ext cx="11601450" cy="484748"/>
          </a:xfrm>
          <a:prstGeom prst="rect">
            <a:avLst/>
          </a:prstGeom>
          <a:noFill/>
        </p:spPr>
        <p:txBody>
          <a:bodyPr wrap="square" lIns="0" tIns="0" rIns="0" bIns="0" anchor="t">
            <a:spAutoFit/>
          </a:bodyPr>
          <a:lstStyle/>
          <a:p>
            <a:pPr algn="l"/>
            <a:r>
              <a:rPr lang="en-US" sz="3150" b="1" i="0" u="none">
                <a:solidFill>
                  <a:srgbClr val="0B2F5C"/>
                </a:solidFill>
                <a:latin typeface="Cambria" panose="02040503050406030204" pitchFamily="18" charset="0"/>
                <a:ea typeface="Cambria" panose="02040503050406030204" pitchFamily="18" charset="0"/>
              </a:rPr>
              <a:t>Khám phá &amp; Phân tích dữ liệu (EDA)</a:t>
            </a:r>
            <a:endParaRPr sz="3150" b="1" i="0" u="none">
              <a:solidFill>
                <a:srgbClr val="0B2F5C"/>
              </a:solidFill>
              <a:latin typeface="Cambria" panose="02040503050406030204" pitchFamily="18" charset="0"/>
              <a:ea typeface="Cambria" panose="02040503050406030204" pitchFamily="18" charset="0"/>
            </a:endParaRPr>
          </a:p>
        </p:txBody>
      </p:sp>
      <p:pic>
        <p:nvPicPr>
          <p:cNvPr id="12" name="Picture 11">
            <a:extLst>
              <a:ext uri="{FF2B5EF4-FFF2-40B4-BE49-F238E27FC236}">
                <a16:creationId xmlns:a16="http://schemas.microsoft.com/office/drawing/2014/main" id="{BD2C2FAD-4576-7701-C168-D879F2E925D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4038" y="1850405"/>
            <a:ext cx="6611189" cy="2452340"/>
          </a:xfrm>
          <a:prstGeom prst="rect">
            <a:avLst/>
          </a:prstGeom>
          <a:noFill/>
          <a:ln>
            <a:noFill/>
          </a:ln>
        </p:spPr>
      </p:pic>
      <p:pic>
        <p:nvPicPr>
          <p:cNvPr id="13" name="Picture 12">
            <a:extLst>
              <a:ext uri="{FF2B5EF4-FFF2-40B4-BE49-F238E27FC236}">
                <a16:creationId xmlns:a16="http://schemas.microsoft.com/office/drawing/2014/main" id="{5A126A46-B964-3DE1-5475-63027C4890D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812579" y="1226576"/>
            <a:ext cx="3592484" cy="31358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ounded Rectangle 2"/>
          <p:cNvSpPr/>
          <p:nvPr/>
        </p:nvSpPr>
        <p:spPr>
          <a:xfrm>
            <a:off x="571500" y="1552575"/>
            <a:ext cx="11049000" cy="1019175"/>
          </a:xfrm>
          <a:prstGeom prst="roundRect">
            <a:avLst>
              <a:gd name="adj" fmla="val 747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57250" y="1743075"/>
            <a:ext cx="10572750" cy="638175"/>
          </a:xfrm>
          <a:prstGeom prst="rect">
            <a:avLst/>
          </a:prstGeom>
          <a:noFill/>
        </p:spPr>
        <p:txBody>
          <a:bodyPr wrap="square" lIns="0" tIns="0" rIns="0" bIns="0" anchor="t">
            <a:spAutoFit/>
          </a:bodyPr>
          <a:lstStyle/>
          <a:p>
            <a:pPr algn="l">
              <a:lnSpc>
                <a:spcPts val="2400"/>
              </a:lnSpc>
            </a:pPr>
            <a:r>
              <a:rPr sz="1500" b="0" i="0" u="none">
                <a:solidFill>
                  <a:srgbClr val="0B2F5C"/>
                </a:solidFill>
                <a:latin typeface="Lato SemiBold"/>
              </a:rPr>
              <a:t>1. Xử lý lỗi &amp; Missing values:</a:t>
            </a:r>
            <a:r>
              <a:rPr sz="1500" b="0" i="0" u="none">
                <a:solidFill>
                  <a:srgbClr val="334155"/>
                </a:solidFill>
                <a:latin typeface="Lato"/>
              </a:rPr>
              <a:t> Thay thế các giá trị thiếu (sử dụng SimpleImputer) và loại bỏ hoàn toàn các giá trị vô hạn (inf) để bảo vệ tính toàn vẹn.</a:t>
            </a:r>
          </a:p>
        </p:txBody>
      </p:sp>
      <p:sp>
        <p:nvSpPr>
          <p:cNvPr id="5" name="Rectangle 4"/>
          <p:cNvSpPr/>
          <p:nvPr/>
        </p:nvSpPr>
        <p:spPr>
          <a:xfrm>
            <a:off x="571500" y="2562225"/>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71500" y="1552575"/>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71500" y="1552575"/>
            <a:ext cx="47625" cy="1019175"/>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610975" y="1552575"/>
            <a:ext cx="9525" cy="10191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71500" y="2762250"/>
            <a:ext cx="11049000" cy="714375"/>
          </a:xfrm>
          <a:prstGeom prst="roundRect">
            <a:avLst>
              <a:gd name="adj" fmla="val 1066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7250" y="2952750"/>
            <a:ext cx="10572750" cy="333375"/>
          </a:xfrm>
          <a:prstGeom prst="rect">
            <a:avLst/>
          </a:prstGeom>
          <a:noFill/>
        </p:spPr>
        <p:txBody>
          <a:bodyPr wrap="square" lIns="0" tIns="0" rIns="0" bIns="0" anchor="t">
            <a:spAutoFit/>
          </a:bodyPr>
          <a:lstStyle/>
          <a:p>
            <a:pPr algn="l">
              <a:lnSpc>
                <a:spcPts val="2400"/>
              </a:lnSpc>
            </a:pPr>
            <a:r>
              <a:rPr sz="1500" b="0" i="0" u="none">
                <a:solidFill>
                  <a:srgbClr val="0B2F5C"/>
                </a:solidFill>
                <a:latin typeface="Lato SemiBold"/>
              </a:rPr>
              <a:t>2. Chia tập dữ liệu (Train/Test Split):</a:t>
            </a:r>
            <a:r>
              <a:rPr sz="1500" b="0" i="0" u="none">
                <a:solidFill>
                  <a:srgbClr val="334155"/>
                </a:solidFill>
                <a:latin typeface="Lato"/>
              </a:rPr>
              <a:t> Tỷ lệ phân chia 80% cho tập huấn luyện (Train) và 20% cho tập kiểm thử (Test).</a:t>
            </a:r>
          </a:p>
        </p:txBody>
      </p:sp>
      <p:sp>
        <p:nvSpPr>
          <p:cNvPr id="11" name="Rectangle 10"/>
          <p:cNvSpPr/>
          <p:nvPr/>
        </p:nvSpPr>
        <p:spPr>
          <a:xfrm>
            <a:off x="571500" y="3467100"/>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71500" y="2762250"/>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71500" y="2762250"/>
            <a:ext cx="47625" cy="714375"/>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610975" y="2762250"/>
            <a:ext cx="9525" cy="7143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71500" y="3667125"/>
            <a:ext cx="11049000" cy="1019175"/>
          </a:xfrm>
          <a:prstGeom prst="roundRect">
            <a:avLst>
              <a:gd name="adj" fmla="val 747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7250" y="4006908"/>
            <a:ext cx="10572750" cy="638175"/>
          </a:xfrm>
          <a:prstGeom prst="rect">
            <a:avLst/>
          </a:prstGeom>
          <a:noFill/>
        </p:spPr>
        <p:txBody>
          <a:bodyPr wrap="square" lIns="0" tIns="0" rIns="0" bIns="0" anchor="t">
            <a:spAutoFit/>
          </a:bodyPr>
          <a:lstStyle/>
          <a:p>
            <a:pPr algn="l">
              <a:lnSpc>
                <a:spcPts val="2400"/>
              </a:lnSpc>
            </a:pPr>
            <a:r>
              <a:rPr sz="1500" b="0" i="0" u="none">
                <a:solidFill>
                  <a:srgbClr val="0B2F5C"/>
                </a:solidFill>
                <a:latin typeface="Lato SemiBold"/>
              </a:rPr>
              <a:t>3. Chuẩn hóa dữ liệu (Scaling):</a:t>
            </a:r>
            <a:r>
              <a:rPr sz="1500" b="0" i="0" u="none">
                <a:solidFill>
                  <a:srgbClr val="334155"/>
                </a:solidFill>
                <a:latin typeface="Lato"/>
              </a:rPr>
              <a:t> Áp dụng StandardScaler để đưa các biến số học về cùng một thang đo (mean=0, variance=1).</a:t>
            </a:r>
          </a:p>
        </p:txBody>
      </p:sp>
      <p:sp>
        <p:nvSpPr>
          <p:cNvPr id="17" name="Rectangle 16"/>
          <p:cNvSpPr/>
          <p:nvPr/>
        </p:nvSpPr>
        <p:spPr>
          <a:xfrm>
            <a:off x="571500" y="4676775"/>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71500" y="3667125"/>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71500" y="3667125"/>
            <a:ext cx="47625" cy="1019175"/>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610975" y="3667125"/>
            <a:ext cx="9525" cy="10191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71500" y="4876800"/>
            <a:ext cx="11049000" cy="1019175"/>
          </a:xfrm>
          <a:prstGeom prst="roundRect">
            <a:avLst>
              <a:gd name="adj" fmla="val 7476"/>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7250" y="5067300"/>
            <a:ext cx="10572750" cy="638175"/>
          </a:xfrm>
          <a:prstGeom prst="rect">
            <a:avLst/>
          </a:prstGeom>
          <a:noFill/>
        </p:spPr>
        <p:txBody>
          <a:bodyPr wrap="square" lIns="0" tIns="0" rIns="0" bIns="0" anchor="t">
            <a:spAutoFit/>
          </a:bodyPr>
          <a:lstStyle/>
          <a:p>
            <a:pPr algn="l">
              <a:lnSpc>
                <a:spcPts val="2400"/>
              </a:lnSpc>
            </a:pPr>
            <a:r>
              <a:rPr sz="1500" b="0" i="0" u="none">
                <a:solidFill>
                  <a:srgbClr val="0B2F5C"/>
                </a:solidFill>
                <a:latin typeface="Lato SemiBold"/>
              </a:rPr>
              <a:t>4. Mã hóa (Encoding):</a:t>
            </a:r>
            <a:r>
              <a:rPr sz="1500" b="0" i="0" u="none">
                <a:solidFill>
                  <a:srgbClr val="334155"/>
                </a:solidFill>
                <a:latin typeface="Lato"/>
              </a:rPr>
              <a:t> Dùng OneHotEncoder để chuyển đổi các biến phân loại (Hướng nhà, Tình trạng pháp lý, Nội thất...) thành dạng số học.</a:t>
            </a:r>
          </a:p>
        </p:txBody>
      </p:sp>
      <p:sp>
        <p:nvSpPr>
          <p:cNvPr id="23" name="Rectangle 22"/>
          <p:cNvSpPr/>
          <p:nvPr/>
        </p:nvSpPr>
        <p:spPr>
          <a:xfrm>
            <a:off x="571500" y="5886450"/>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71500" y="4876800"/>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71500" y="4876800"/>
            <a:ext cx="47625" cy="1019175"/>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1610975" y="4876800"/>
            <a:ext cx="9525" cy="10191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71500" y="2562225"/>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71500" y="3467100"/>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71500" y="4676775"/>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71500" y="5886450"/>
            <a:ext cx="11049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71500" y="571500"/>
            <a:ext cx="11601450" cy="484748"/>
          </a:xfrm>
          <a:prstGeom prst="rect">
            <a:avLst/>
          </a:prstGeom>
          <a:noFill/>
        </p:spPr>
        <p:txBody>
          <a:bodyPr wrap="square" lIns="0" tIns="0" rIns="0" bIns="0" anchor="t">
            <a:spAutoFit/>
          </a:bodyPr>
          <a:lstStyle/>
          <a:p>
            <a:pPr algn="l"/>
            <a:r>
              <a:rPr sz="3150" b="1" i="0" u="none">
                <a:solidFill>
                  <a:srgbClr val="0B2F5C"/>
                </a:solidFill>
                <a:latin typeface="Cambria" panose="02040503050406030204" pitchFamily="18" charset="0"/>
                <a:ea typeface="Cambria" panose="02040503050406030204" pitchFamily="18" charset="0"/>
              </a:rPr>
              <a:t>Quy trình chuẩn bị dữ liệu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552575"/>
            <a:ext cx="5286375" cy="3724275"/>
          </a:xfrm>
          <a:prstGeom prst="rect">
            <a:avLst/>
          </a:prstGeom>
        </p:spPr>
      </p:pic>
      <p:pic>
        <p:nvPicPr>
          <p:cNvPr id="4" name="Picture 3" descr="image.png"/>
          <p:cNvPicPr>
            <a:picLocks noChangeAspect="1"/>
          </p:cNvPicPr>
          <p:nvPr/>
        </p:nvPicPr>
        <p:blipFill>
          <a:blip r:embed="rId4"/>
          <a:stretch>
            <a:fillRect/>
          </a:stretch>
        </p:blipFill>
        <p:spPr>
          <a:xfrm>
            <a:off x="6334125" y="1552575"/>
            <a:ext cx="5286375" cy="3724275"/>
          </a:xfrm>
          <a:prstGeom prst="rect">
            <a:avLst/>
          </a:prstGeom>
        </p:spPr>
      </p:pic>
      <p:pic>
        <p:nvPicPr>
          <p:cNvPr id="5" name="Picture 4" descr="image.png"/>
          <p:cNvPicPr>
            <a:picLocks noChangeAspect="1"/>
          </p:cNvPicPr>
          <p:nvPr/>
        </p:nvPicPr>
        <p:blipFill>
          <a:blip r:embed="rId5"/>
          <a:stretch>
            <a:fillRect/>
          </a:stretch>
        </p:blipFill>
        <p:spPr>
          <a:xfrm>
            <a:off x="962025" y="3724275"/>
            <a:ext cx="4505325" cy="761702"/>
          </a:xfrm>
          <a:prstGeom prst="rect">
            <a:avLst/>
          </a:prstGeom>
        </p:spPr>
      </p:pic>
      <p:sp>
        <p:nvSpPr>
          <p:cNvPr id="6" name="TextBox 5"/>
          <p:cNvSpPr txBox="1"/>
          <p:nvPr/>
        </p:nvSpPr>
        <p:spPr>
          <a:xfrm>
            <a:off x="962025" y="1943100"/>
            <a:ext cx="4730591" cy="369332"/>
          </a:xfrm>
          <a:prstGeom prst="rect">
            <a:avLst/>
          </a:prstGeom>
          <a:noFill/>
        </p:spPr>
        <p:txBody>
          <a:bodyPr wrap="square" lIns="0" tIns="0" rIns="0" bIns="0" anchor="t">
            <a:spAutoFit/>
          </a:bodyPr>
          <a:lstStyle/>
          <a:p>
            <a:pPr algn="l"/>
            <a:r>
              <a:rPr sz="2400" b="1" i="0" u="none">
                <a:solidFill>
                  <a:srgbClr val="0B2F5C"/>
                </a:solidFill>
                <a:latin typeface="+mj-lt"/>
              </a:rPr>
              <a:t>Tự cài đặt (Scratch)</a:t>
            </a:r>
          </a:p>
        </p:txBody>
      </p:sp>
      <p:sp>
        <p:nvSpPr>
          <p:cNvPr id="7" name="Rectangle 6"/>
          <p:cNvSpPr/>
          <p:nvPr/>
        </p:nvSpPr>
        <p:spPr>
          <a:xfrm>
            <a:off x="962025" y="2409825"/>
            <a:ext cx="4505325" cy="19050"/>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2025" y="2619375"/>
            <a:ext cx="4505325" cy="914400"/>
          </a:xfrm>
          <a:prstGeom prst="rect">
            <a:avLst/>
          </a:prstGeom>
          <a:noFill/>
        </p:spPr>
        <p:txBody>
          <a:bodyPr wrap="square" lIns="0" tIns="0" rIns="0" bIns="0" anchor="t">
            <a:spAutoFit/>
          </a:bodyPr>
          <a:lstStyle/>
          <a:p>
            <a:pPr algn="l">
              <a:lnSpc>
                <a:spcPts val="2400"/>
              </a:lnSpc>
            </a:pPr>
            <a:r>
              <a:rPr sz="1500" b="0" i="0" u="none">
                <a:solidFill>
                  <a:srgbClr val="334155"/>
                </a:solidFill>
                <a:latin typeface="Lato"/>
              </a:rPr>
              <a:t>Cài đặt Linear Regression thủ công bằng công thức </a:t>
            </a:r>
            <a:r>
              <a:rPr sz="1500" b="1" i="0" u="none">
                <a:solidFill>
                  <a:srgbClr val="334155"/>
                </a:solidFill>
                <a:latin typeface="Lato"/>
              </a:rPr>
              <a:t>Normal Equation</a:t>
            </a:r>
            <a:r>
              <a:rPr sz="1500" b="0" i="0" u="none">
                <a:solidFill>
                  <a:srgbClr val="334155"/>
                </a:solidFill>
                <a:latin typeface="Lato"/>
              </a:rPr>
              <a:t> để hiểu sâu bản chất toán học của thuật toán.</a:t>
            </a:r>
          </a:p>
        </p:txBody>
      </p:sp>
      <p:sp>
        <p:nvSpPr>
          <p:cNvPr id="9" name="TextBox 8"/>
          <p:cNvSpPr txBox="1"/>
          <p:nvPr/>
        </p:nvSpPr>
        <p:spPr>
          <a:xfrm>
            <a:off x="6724650" y="1943100"/>
            <a:ext cx="4730591" cy="369332"/>
          </a:xfrm>
          <a:prstGeom prst="rect">
            <a:avLst/>
          </a:prstGeom>
          <a:noFill/>
        </p:spPr>
        <p:txBody>
          <a:bodyPr wrap="square" lIns="0" tIns="0" rIns="0" bIns="0" anchor="t">
            <a:spAutoFit/>
          </a:bodyPr>
          <a:lstStyle/>
          <a:p>
            <a:pPr algn="l"/>
            <a:r>
              <a:rPr sz="2400" b="1" i="0" u="none">
                <a:solidFill>
                  <a:srgbClr val="0B2F5C"/>
                </a:solidFill>
                <a:latin typeface="+mj-lt"/>
              </a:rPr>
              <a:t>Sử dụng thư viện (Scikit-learn)</a:t>
            </a:r>
          </a:p>
        </p:txBody>
      </p:sp>
      <p:sp>
        <p:nvSpPr>
          <p:cNvPr id="10" name="Rectangle 9"/>
          <p:cNvSpPr/>
          <p:nvPr/>
        </p:nvSpPr>
        <p:spPr>
          <a:xfrm>
            <a:off x="6724650" y="2409825"/>
            <a:ext cx="4505325" cy="19050"/>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48475" y="2619375"/>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12" name="TextBox 11"/>
          <p:cNvSpPr txBox="1"/>
          <p:nvPr/>
        </p:nvSpPr>
        <p:spPr>
          <a:xfrm>
            <a:off x="6962775" y="2619375"/>
            <a:ext cx="4267200" cy="609600"/>
          </a:xfrm>
          <a:prstGeom prst="rect">
            <a:avLst/>
          </a:prstGeom>
          <a:noFill/>
        </p:spPr>
        <p:txBody>
          <a:bodyPr wrap="square" lIns="114300" tIns="0" rIns="0" bIns="0" anchor="t">
            <a:spAutoFit/>
          </a:bodyPr>
          <a:lstStyle/>
          <a:p>
            <a:pPr algn="l">
              <a:lnSpc>
                <a:spcPts val="2400"/>
              </a:lnSpc>
            </a:pPr>
            <a:r>
              <a:rPr sz="1500" b="0" i="0" u="none">
                <a:solidFill>
                  <a:srgbClr val="334155"/>
                </a:solidFill>
                <a:latin typeface="Lato"/>
              </a:rPr>
              <a:t>Triển khai nhanh chóng các mô hình Linear, Ridge, Lasso.</a:t>
            </a:r>
          </a:p>
        </p:txBody>
      </p:sp>
      <p:sp>
        <p:nvSpPr>
          <p:cNvPr id="13" name="TextBox 12"/>
          <p:cNvSpPr txBox="1"/>
          <p:nvPr/>
        </p:nvSpPr>
        <p:spPr>
          <a:xfrm>
            <a:off x="6848475" y="3371850"/>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14" name="TextBox 13"/>
          <p:cNvSpPr txBox="1"/>
          <p:nvPr/>
        </p:nvSpPr>
        <p:spPr>
          <a:xfrm>
            <a:off x="6962775" y="3371850"/>
            <a:ext cx="4267200" cy="609600"/>
          </a:xfrm>
          <a:prstGeom prst="rect">
            <a:avLst/>
          </a:prstGeom>
          <a:noFill/>
        </p:spPr>
        <p:txBody>
          <a:bodyPr wrap="square" lIns="114300" tIns="0" rIns="0" bIns="0" anchor="t">
            <a:spAutoFit/>
          </a:bodyPr>
          <a:lstStyle/>
          <a:p>
            <a:pPr algn="l">
              <a:lnSpc>
                <a:spcPts val="2400"/>
              </a:lnSpc>
            </a:pPr>
            <a:r>
              <a:rPr sz="1500" b="0" i="0" u="none">
                <a:solidFill>
                  <a:srgbClr val="334155"/>
                </a:solidFill>
                <a:latin typeface="Lato"/>
              </a:rPr>
              <a:t>Xây dựng </a:t>
            </a:r>
            <a:r>
              <a:rPr sz="1500" b="1" i="0" u="none">
                <a:solidFill>
                  <a:srgbClr val="334155"/>
                </a:solidFill>
                <a:latin typeface="Lato"/>
              </a:rPr>
              <a:t>Pipeline</a:t>
            </a:r>
            <a:r>
              <a:rPr sz="1500" b="0" i="0" u="none">
                <a:solidFill>
                  <a:srgbClr val="334155"/>
                </a:solidFill>
                <a:latin typeface="Lato"/>
              </a:rPr>
              <a:t> đồng bộ xử lý dữ liệu số và phân loại trong một quy trình.</a:t>
            </a:r>
          </a:p>
        </p:txBody>
      </p:sp>
      <p:sp>
        <p:nvSpPr>
          <p:cNvPr id="15" name="TextBox 14"/>
          <p:cNvSpPr txBox="1"/>
          <p:nvPr/>
        </p:nvSpPr>
        <p:spPr>
          <a:xfrm>
            <a:off x="6848475" y="4124325"/>
            <a:ext cx="114300" cy="304800"/>
          </a:xfrm>
          <a:prstGeom prst="rect">
            <a:avLst/>
          </a:prstGeom>
          <a:noFill/>
        </p:spPr>
        <p:txBody>
          <a:bodyPr wrap="square" lIns="0" tIns="0" rIns="0" bIns="0" anchor="t">
            <a:spAutoFit/>
          </a:bodyPr>
          <a:lstStyle/>
          <a:p>
            <a:pPr algn="l"/>
            <a:r>
              <a:rPr sz="1500" b="0" i="0" u="none">
                <a:solidFill>
                  <a:srgbClr val="334155"/>
                </a:solidFill>
                <a:latin typeface="Lato"/>
              </a:rPr>
              <a:t>•</a:t>
            </a:r>
          </a:p>
        </p:txBody>
      </p:sp>
      <p:sp>
        <p:nvSpPr>
          <p:cNvPr id="16" name="TextBox 15"/>
          <p:cNvSpPr txBox="1"/>
          <p:nvPr/>
        </p:nvSpPr>
        <p:spPr>
          <a:xfrm>
            <a:off x="6962775" y="4124325"/>
            <a:ext cx="4267200" cy="619125"/>
          </a:xfrm>
          <a:prstGeom prst="rect">
            <a:avLst/>
          </a:prstGeom>
          <a:noFill/>
        </p:spPr>
        <p:txBody>
          <a:bodyPr wrap="square" lIns="114300" tIns="0" rIns="0" bIns="0" anchor="t">
            <a:spAutoFit/>
          </a:bodyPr>
          <a:lstStyle/>
          <a:p>
            <a:pPr algn="l">
              <a:lnSpc>
                <a:spcPts val="2400"/>
              </a:lnSpc>
            </a:pPr>
            <a:r>
              <a:rPr sz="1500" b="1" i="0" u="none">
                <a:solidFill>
                  <a:srgbClr val="334155"/>
                </a:solidFill>
                <a:latin typeface="Lato"/>
              </a:rPr>
              <a:t>Lưu mô hình:</a:t>
            </a:r>
            <a:r>
              <a:rPr sz="1500" b="0" i="0" u="none">
                <a:solidFill>
                  <a:srgbClr val="334155"/>
                </a:solidFill>
                <a:latin typeface="Lato"/>
              </a:rPr>
              <a:t> Xuất file .pkl (Joblib/Pickle) để dễ dàng tích hợp trực tiếp vào ứng dụng Web.</a:t>
            </a:r>
          </a:p>
        </p:txBody>
      </p:sp>
      <p:pic>
        <p:nvPicPr>
          <p:cNvPr id="17" name="Picture 16" descr="image.png"/>
          <p:cNvPicPr>
            <a:picLocks noChangeAspect="1"/>
          </p:cNvPicPr>
          <p:nvPr/>
        </p:nvPicPr>
        <p:blipFill>
          <a:blip r:embed="rId6"/>
          <a:stretch>
            <a:fillRect/>
          </a:stretch>
        </p:blipFill>
        <p:spPr>
          <a:xfrm>
            <a:off x="2356842" y="3924300"/>
            <a:ext cx="1715690" cy="352127"/>
          </a:xfrm>
          <a:prstGeom prst="rect">
            <a:avLst/>
          </a:prstGeom>
        </p:spPr>
      </p:pic>
      <p:sp>
        <p:nvSpPr>
          <p:cNvPr id="18" name="TextBox 17"/>
          <p:cNvSpPr txBox="1"/>
          <p:nvPr/>
        </p:nvSpPr>
        <p:spPr>
          <a:xfrm>
            <a:off x="571500" y="571500"/>
            <a:ext cx="11601450" cy="484748"/>
          </a:xfrm>
          <a:prstGeom prst="rect">
            <a:avLst/>
          </a:prstGeom>
          <a:noFill/>
        </p:spPr>
        <p:txBody>
          <a:bodyPr wrap="square" lIns="0" tIns="0" rIns="0" bIns="0" anchor="t">
            <a:spAutoFit/>
          </a:bodyPr>
          <a:lstStyle/>
          <a:p>
            <a:pPr algn="l"/>
            <a:r>
              <a:rPr sz="3150" b="1" i="0" u="none">
                <a:solidFill>
                  <a:srgbClr val="0B2F5C"/>
                </a:solidFill>
                <a:latin typeface="Cambria" panose="02040503050406030204" pitchFamily="18" charset="0"/>
                <a:ea typeface="Cambria" panose="02040503050406030204" pitchFamily="18" charset="0"/>
              </a:rPr>
              <a:t>Cài đặt mô hình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499" y="1463822"/>
            <a:ext cx="10658475" cy="3724275"/>
          </a:xfrm>
          <a:prstGeom prst="rect">
            <a:avLst/>
          </a:prstGeom>
        </p:spPr>
      </p:pic>
      <p:sp>
        <p:nvSpPr>
          <p:cNvPr id="6" name="TextBox 5"/>
          <p:cNvSpPr txBox="1"/>
          <p:nvPr/>
        </p:nvSpPr>
        <p:spPr>
          <a:xfrm>
            <a:off x="962025" y="1943100"/>
            <a:ext cx="4730591" cy="369332"/>
          </a:xfrm>
          <a:prstGeom prst="rect">
            <a:avLst/>
          </a:prstGeom>
          <a:noFill/>
        </p:spPr>
        <p:txBody>
          <a:bodyPr wrap="square" lIns="0" tIns="0" rIns="0" bIns="0" anchor="t">
            <a:spAutoFit/>
          </a:bodyPr>
          <a:lstStyle/>
          <a:p>
            <a:pPr algn="l"/>
            <a:r>
              <a:rPr lang="vi-VN" sz="2400" b="1" i="0" u="none">
                <a:solidFill>
                  <a:srgbClr val="0B2F5C"/>
                </a:solidFill>
                <a:latin typeface="+mj-lt"/>
              </a:rPr>
              <a:t>Quy trình Pipeline 7 bước:</a:t>
            </a:r>
            <a:endParaRPr lang="en-US" sz="2400" b="1" i="0" u="none">
              <a:solidFill>
                <a:srgbClr val="0B2F5C"/>
              </a:solidFill>
              <a:latin typeface="+mj-lt"/>
            </a:endParaRPr>
          </a:p>
        </p:txBody>
      </p:sp>
      <p:sp>
        <p:nvSpPr>
          <p:cNvPr id="7" name="Rectangle 6"/>
          <p:cNvSpPr/>
          <p:nvPr/>
        </p:nvSpPr>
        <p:spPr>
          <a:xfrm>
            <a:off x="962025" y="2409825"/>
            <a:ext cx="4505325" cy="19050"/>
          </a:xfrm>
          <a:prstGeom prst="rect">
            <a:avLst/>
          </a:prstGeom>
          <a:solidFill>
            <a:srgbClr val="F58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2025" y="2619375"/>
            <a:ext cx="4505325" cy="1195135"/>
          </a:xfrm>
          <a:prstGeom prst="rect">
            <a:avLst/>
          </a:prstGeom>
          <a:noFill/>
        </p:spPr>
        <p:txBody>
          <a:bodyPr wrap="square" lIns="0" tIns="0" rIns="0" bIns="0" anchor="t">
            <a:spAutoFit/>
          </a:bodyPr>
          <a:lstStyle/>
          <a:p>
            <a:pPr algn="l">
              <a:lnSpc>
                <a:spcPts val="2400"/>
              </a:lnSpc>
            </a:pPr>
            <a:r>
              <a:rPr lang="en-US" sz="1500" b="0" i="0" u="none">
                <a:solidFill>
                  <a:srgbClr val="334155"/>
                </a:solidFill>
                <a:latin typeface="Lato"/>
              </a:rPr>
              <a:t>Bao gồm: </a:t>
            </a:r>
          </a:p>
          <a:p>
            <a:pPr algn="l">
              <a:lnSpc>
                <a:spcPts val="2400"/>
              </a:lnSpc>
            </a:pPr>
            <a:r>
              <a:rPr lang="en-US" sz="1500" b="0" i="0" u="none">
                <a:solidFill>
                  <a:srgbClr val="334155"/>
                </a:solidFill>
                <a:latin typeface="Lato"/>
              </a:rPr>
              <a:t>tải dữ liệu xử lý lỗi chia tập Train/Test, chuẩn hóa, huấn luyện mô hình, đánh giá và cuối cùng là xuất file (.pkl) để hiển thị lên Dashboard.</a:t>
            </a:r>
          </a:p>
        </p:txBody>
      </p:sp>
      <p:sp>
        <p:nvSpPr>
          <p:cNvPr id="18" name="TextBox 17"/>
          <p:cNvSpPr txBox="1"/>
          <p:nvPr/>
        </p:nvSpPr>
        <p:spPr>
          <a:xfrm>
            <a:off x="571500" y="571500"/>
            <a:ext cx="11601450" cy="484748"/>
          </a:xfrm>
          <a:prstGeom prst="rect">
            <a:avLst/>
          </a:prstGeom>
          <a:noFill/>
        </p:spPr>
        <p:txBody>
          <a:bodyPr wrap="square" lIns="0" tIns="0" rIns="0" bIns="0" anchor="t">
            <a:spAutoFit/>
          </a:bodyPr>
          <a:lstStyle/>
          <a:p>
            <a:pPr algn="l"/>
            <a:r>
              <a:rPr lang="en-US" sz="3150" b="1" i="0" u="none">
                <a:solidFill>
                  <a:srgbClr val="0B2F5C"/>
                </a:solidFill>
                <a:latin typeface="Cambria" panose="02040503050406030204" pitchFamily="18" charset="0"/>
                <a:ea typeface="Cambria" panose="02040503050406030204" pitchFamily="18" charset="0"/>
              </a:rPr>
              <a:t>Xây dựng mô hình</a:t>
            </a:r>
            <a:endParaRPr sz="3150" b="1" i="0" u="none">
              <a:solidFill>
                <a:srgbClr val="0B2F5C"/>
              </a:solidFill>
              <a:latin typeface="Cambria" panose="02040503050406030204" pitchFamily="18" charset="0"/>
              <a:ea typeface="Cambria" panose="02040503050406030204" pitchFamily="18" charset="0"/>
            </a:endParaRPr>
          </a:p>
        </p:txBody>
      </p:sp>
      <p:pic>
        <p:nvPicPr>
          <p:cNvPr id="20" name="Picture 19">
            <a:extLst>
              <a:ext uri="{FF2B5EF4-FFF2-40B4-BE49-F238E27FC236}">
                <a16:creationId xmlns:a16="http://schemas.microsoft.com/office/drawing/2014/main" id="{6871F522-70F1-87FA-2056-D50A8BB9B1B5}"/>
              </a:ext>
            </a:extLst>
          </p:cNvPr>
          <p:cNvPicPr>
            <a:picLocks noChangeAspect="1"/>
          </p:cNvPicPr>
          <p:nvPr/>
        </p:nvPicPr>
        <p:blipFill>
          <a:blip r:embed="rId4"/>
          <a:stretch>
            <a:fillRect/>
          </a:stretch>
        </p:blipFill>
        <p:spPr>
          <a:xfrm>
            <a:off x="6702676" y="213864"/>
            <a:ext cx="3315163" cy="6430272"/>
          </a:xfrm>
          <a:prstGeom prst="rect">
            <a:avLst/>
          </a:prstGeom>
        </p:spPr>
      </p:pic>
    </p:spTree>
    <p:extLst>
      <p:ext uri="{BB962C8B-B14F-4D97-AF65-F5344CB8AC3E}">
        <p14:creationId xmlns:p14="http://schemas.microsoft.com/office/powerpoint/2010/main" val="1255308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666875" y="2835622"/>
            <a:ext cx="3810000" cy="2996505"/>
          </a:xfrm>
          <a:prstGeom prst="rect">
            <a:avLst/>
          </a:prstGeom>
        </p:spPr>
      </p:pic>
      <p:pic>
        <p:nvPicPr>
          <p:cNvPr id="4" name="Picture 3" descr="image.png"/>
          <p:cNvPicPr>
            <a:picLocks noChangeAspect="1"/>
          </p:cNvPicPr>
          <p:nvPr/>
        </p:nvPicPr>
        <p:blipFill>
          <a:blip r:embed="rId4"/>
          <a:stretch>
            <a:fillRect/>
          </a:stretch>
        </p:blipFill>
        <p:spPr>
          <a:xfrm>
            <a:off x="6715125" y="2840384"/>
            <a:ext cx="3810000" cy="2986980"/>
          </a:xfrm>
          <a:prstGeom prst="rect">
            <a:avLst/>
          </a:prstGeom>
        </p:spPr>
      </p:pic>
      <p:sp>
        <p:nvSpPr>
          <p:cNvPr id="5" name="TextBox 4"/>
          <p:cNvSpPr txBox="1"/>
          <p:nvPr/>
        </p:nvSpPr>
        <p:spPr>
          <a:xfrm>
            <a:off x="571500" y="1552575"/>
            <a:ext cx="11049000" cy="304800"/>
          </a:xfrm>
          <a:prstGeom prst="rect">
            <a:avLst/>
          </a:prstGeom>
          <a:noFill/>
        </p:spPr>
        <p:txBody>
          <a:bodyPr wrap="square" lIns="0" tIns="0" rIns="0" bIns="0" anchor="t">
            <a:spAutoFit/>
          </a:bodyPr>
          <a:lstStyle/>
          <a:p>
            <a:pPr algn="ctr">
              <a:lnSpc>
                <a:spcPts val="2400"/>
              </a:lnSpc>
            </a:pPr>
            <a:r>
              <a:rPr sz="1500" b="0" i="1" u="none">
                <a:solidFill>
                  <a:srgbClr val="334155"/>
                </a:solidFill>
                <a:latin typeface="Lato"/>
              </a:rPr>
              <a:t>Tập huấn luyện (Train): 24,183 mẫu  |  Tập kiểm thử (Test): 6,046 mẫu</a:t>
            </a:r>
          </a:p>
        </p:txBody>
      </p:sp>
      <p:sp>
        <p:nvSpPr>
          <p:cNvPr id="6" name="TextBox 5"/>
          <p:cNvSpPr txBox="1"/>
          <p:nvPr/>
        </p:nvSpPr>
        <p:spPr>
          <a:xfrm>
            <a:off x="2143125" y="3369022"/>
            <a:ext cx="2857500" cy="1047750"/>
          </a:xfrm>
          <a:prstGeom prst="rect">
            <a:avLst/>
          </a:prstGeom>
          <a:noFill/>
        </p:spPr>
        <p:txBody>
          <a:bodyPr wrap="square" lIns="0" tIns="0" rIns="0" bIns="0" anchor="t">
            <a:spAutoFit/>
          </a:bodyPr>
          <a:lstStyle/>
          <a:p>
            <a:pPr algn="ctr">
              <a:lnSpc>
                <a:spcPts val="8250"/>
              </a:lnSpc>
            </a:pPr>
            <a:r>
              <a:rPr sz="8250" b="1" i="0" u="none">
                <a:solidFill>
                  <a:srgbClr val="0B2F5C"/>
                </a:solidFill>
                <a:latin typeface="Poppins"/>
              </a:rPr>
              <a:t>1.97</a:t>
            </a:r>
          </a:p>
        </p:txBody>
      </p:sp>
      <p:sp>
        <p:nvSpPr>
          <p:cNvPr id="7" name="TextBox 6"/>
          <p:cNvSpPr txBox="1"/>
          <p:nvPr/>
        </p:nvSpPr>
        <p:spPr>
          <a:xfrm>
            <a:off x="2143125" y="4512022"/>
            <a:ext cx="2857500" cy="314325"/>
          </a:xfrm>
          <a:prstGeom prst="rect">
            <a:avLst/>
          </a:prstGeom>
          <a:noFill/>
        </p:spPr>
        <p:txBody>
          <a:bodyPr wrap="square" lIns="0" tIns="0" rIns="0" bIns="0" anchor="t">
            <a:spAutoFit/>
          </a:bodyPr>
          <a:lstStyle/>
          <a:p>
            <a:pPr algn="ctr"/>
            <a:r>
              <a:rPr sz="1950" b="0" i="0" u="none">
                <a:solidFill>
                  <a:srgbClr val="64748B"/>
                </a:solidFill>
                <a:latin typeface="Lato SemiBold"/>
              </a:rPr>
              <a:t>RMSE (Tỷ VNĐ)</a:t>
            </a:r>
          </a:p>
        </p:txBody>
      </p:sp>
      <p:sp>
        <p:nvSpPr>
          <p:cNvPr id="8" name="TextBox 7"/>
          <p:cNvSpPr txBox="1"/>
          <p:nvPr/>
        </p:nvSpPr>
        <p:spPr>
          <a:xfrm>
            <a:off x="2143125" y="4969222"/>
            <a:ext cx="2857500" cy="243780"/>
          </a:xfrm>
          <a:prstGeom prst="rect">
            <a:avLst/>
          </a:prstGeom>
          <a:noFill/>
        </p:spPr>
        <p:txBody>
          <a:bodyPr wrap="square" lIns="0" tIns="0" rIns="0" bIns="0" anchor="t">
            <a:spAutoFit/>
          </a:bodyPr>
          <a:lstStyle/>
          <a:p>
            <a:pPr algn="ctr">
              <a:lnSpc>
                <a:spcPts val="1920"/>
              </a:lnSpc>
            </a:pPr>
            <a:r>
              <a:rPr sz="1200" b="0" i="0" u="none">
                <a:solidFill>
                  <a:srgbClr val="334155"/>
                </a:solidFill>
                <a:latin typeface="Lato"/>
              </a:rPr>
              <a:t>Sai số dự đoán trung bình ~ 1.97 tỷ</a:t>
            </a:r>
          </a:p>
        </p:txBody>
      </p:sp>
      <p:sp>
        <p:nvSpPr>
          <p:cNvPr id="9" name="TextBox 8"/>
          <p:cNvSpPr txBox="1"/>
          <p:nvPr/>
        </p:nvSpPr>
        <p:spPr>
          <a:xfrm>
            <a:off x="7077074" y="3369022"/>
            <a:ext cx="3201761" cy="1094530"/>
          </a:xfrm>
          <a:prstGeom prst="rect">
            <a:avLst/>
          </a:prstGeom>
          <a:noFill/>
        </p:spPr>
        <p:txBody>
          <a:bodyPr wrap="square" lIns="0" tIns="0" rIns="0" bIns="0" anchor="t">
            <a:spAutoFit/>
          </a:bodyPr>
          <a:lstStyle/>
          <a:p>
            <a:pPr algn="ctr">
              <a:lnSpc>
                <a:spcPts val="8250"/>
              </a:lnSpc>
            </a:pPr>
            <a:r>
              <a:rPr sz="8250" b="1" i="0" u="none">
                <a:solidFill>
                  <a:srgbClr val="0B2F5C"/>
                </a:solidFill>
                <a:latin typeface="Poppins"/>
              </a:rPr>
              <a:t>20.1%</a:t>
            </a:r>
          </a:p>
        </p:txBody>
      </p:sp>
      <p:sp>
        <p:nvSpPr>
          <p:cNvPr id="10" name="TextBox 9"/>
          <p:cNvSpPr txBox="1"/>
          <p:nvPr/>
        </p:nvSpPr>
        <p:spPr>
          <a:xfrm>
            <a:off x="7191375" y="4516784"/>
            <a:ext cx="2857500" cy="304800"/>
          </a:xfrm>
          <a:prstGeom prst="rect">
            <a:avLst/>
          </a:prstGeom>
          <a:noFill/>
        </p:spPr>
        <p:txBody>
          <a:bodyPr wrap="square" lIns="0" tIns="0" rIns="0" bIns="0" anchor="t">
            <a:spAutoFit/>
          </a:bodyPr>
          <a:lstStyle/>
          <a:p>
            <a:pPr algn="ctr"/>
            <a:r>
              <a:rPr sz="1950" b="0" i="0" u="none">
                <a:solidFill>
                  <a:srgbClr val="64748B"/>
                </a:solidFill>
                <a:latin typeface="Lato SemiBold"/>
              </a:rPr>
              <a:t>R² Score</a:t>
            </a:r>
          </a:p>
        </p:txBody>
      </p:sp>
      <p:sp>
        <p:nvSpPr>
          <p:cNvPr id="11" name="TextBox 10"/>
          <p:cNvSpPr txBox="1"/>
          <p:nvPr/>
        </p:nvSpPr>
        <p:spPr>
          <a:xfrm>
            <a:off x="7191375" y="4964459"/>
            <a:ext cx="2857500" cy="243780"/>
          </a:xfrm>
          <a:prstGeom prst="rect">
            <a:avLst/>
          </a:prstGeom>
          <a:noFill/>
        </p:spPr>
        <p:txBody>
          <a:bodyPr wrap="square" lIns="0" tIns="0" rIns="0" bIns="0" anchor="t">
            <a:spAutoFit/>
          </a:bodyPr>
          <a:lstStyle/>
          <a:p>
            <a:pPr algn="ctr">
              <a:lnSpc>
                <a:spcPts val="1920"/>
              </a:lnSpc>
            </a:pPr>
            <a:r>
              <a:rPr sz="1200" b="0" i="0" u="none">
                <a:solidFill>
                  <a:srgbClr val="334155"/>
                </a:solidFill>
                <a:latin typeface="Lato"/>
              </a:rPr>
              <a:t>Độ phù hợp của mô hình</a:t>
            </a:r>
          </a:p>
        </p:txBody>
      </p:sp>
      <p:sp>
        <p:nvSpPr>
          <p:cNvPr id="12" name="TextBox 11"/>
          <p:cNvSpPr txBox="1"/>
          <p:nvPr/>
        </p:nvSpPr>
        <p:spPr>
          <a:xfrm>
            <a:off x="571500" y="571500"/>
            <a:ext cx="11601450" cy="484748"/>
          </a:xfrm>
          <a:prstGeom prst="rect">
            <a:avLst/>
          </a:prstGeom>
          <a:noFill/>
        </p:spPr>
        <p:txBody>
          <a:bodyPr wrap="square" lIns="0" tIns="0" rIns="0" bIns="0" anchor="t">
            <a:spAutoFit/>
          </a:bodyPr>
          <a:lstStyle/>
          <a:p>
            <a:pPr algn="l"/>
            <a:r>
              <a:rPr sz="3150" b="1" i="0" u="none">
                <a:solidFill>
                  <a:srgbClr val="0B2F5C"/>
                </a:solidFill>
                <a:latin typeface="Cambria" panose="02040503050406030204" pitchFamily="18" charset="0"/>
                <a:ea typeface="Cambria" panose="02040503050406030204" pitchFamily="18" charset="0"/>
              </a:rPr>
              <a:t>Đánh giá kết quả (Linear Regression)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552575"/>
            <a:ext cx="3492549" cy="4733925"/>
          </a:xfrm>
          <a:prstGeom prst="rect">
            <a:avLst/>
          </a:prstGeom>
        </p:spPr>
      </p:pic>
      <p:pic>
        <p:nvPicPr>
          <p:cNvPr id="4" name="Picture 3" descr="image.png"/>
          <p:cNvPicPr>
            <a:picLocks noChangeAspect="1"/>
          </p:cNvPicPr>
          <p:nvPr/>
        </p:nvPicPr>
        <p:blipFill>
          <a:blip r:embed="rId4"/>
          <a:stretch>
            <a:fillRect/>
          </a:stretch>
        </p:blipFill>
        <p:spPr>
          <a:xfrm>
            <a:off x="4349799" y="1552575"/>
            <a:ext cx="3492549" cy="4733925"/>
          </a:xfrm>
          <a:prstGeom prst="rect">
            <a:avLst/>
          </a:prstGeom>
        </p:spPr>
      </p:pic>
      <p:pic>
        <p:nvPicPr>
          <p:cNvPr id="5" name="Picture 4" descr="image.png"/>
          <p:cNvPicPr>
            <a:picLocks noChangeAspect="1"/>
          </p:cNvPicPr>
          <p:nvPr/>
        </p:nvPicPr>
        <p:blipFill>
          <a:blip r:embed="rId5"/>
          <a:stretch>
            <a:fillRect/>
          </a:stretch>
        </p:blipFill>
        <p:spPr>
          <a:xfrm>
            <a:off x="8128099" y="1552575"/>
            <a:ext cx="3492549" cy="4733925"/>
          </a:xfrm>
          <a:prstGeom prst="rect">
            <a:avLst/>
          </a:prstGeom>
        </p:spPr>
      </p:pic>
      <p:sp>
        <p:nvSpPr>
          <p:cNvPr id="6" name="TextBox 5"/>
          <p:cNvSpPr txBox="1"/>
          <p:nvPr/>
        </p:nvSpPr>
        <p:spPr>
          <a:xfrm>
            <a:off x="794225" y="2581275"/>
            <a:ext cx="3047099" cy="369332"/>
          </a:xfrm>
          <a:prstGeom prst="rect">
            <a:avLst/>
          </a:prstGeom>
          <a:noFill/>
        </p:spPr>
        <p:txBody>
          <a:bodyPr wrap="square" lIns="0" tIns="0" rIns="0" bIns="0" anchor="t">
            <a:spAutoFit/>
          </a:bodyPr>
          <a:lstStyle/>
          <a:p>
            <a:pPr algn="ctr"/>
            <a:r>
              <a:rPr sz="2400" b="1" i="0" u="none">
                <a:solidFill>
                  <a:srgbClr val="0B2F5C"/>
                </a:solidFill>
                <a:latin typeface="+mj-lt"/>
              </a:rPr>
              <a:t>Ưu điểm</a:t>
            </a:r>
          </a:p>
        </p:txBody>
      </p:sp>
      <p:sp>
        <p:nvSpPr>
          <p:cNvPr id="7" name="TextBox 6"/>
          <p:cNvSpPr txBox="1"/>
          <p:nvPr/>
        </p:nvSpPr>
        <p:spPr>
          <a:xfrm>
            <a:off x="866775" y="3038475"/>
            <a:ext cx="2901999" cy="1524000"/>
          </a:xfrm>
          <a:prstGeom prst="rect">
            <a:avLst/>
          </a:prstGeom>
          <a:noFill/>
        </p:spPr>
        <p:txBody>
          <a:bodyPr wrap="square" lIns="0" tIns="0" rIns="0" bIns="0" anchor="t">
            <a:spAutoFit/>
          </a:bodyPr>
          <a:lstStyle/>
          <a:p>
            <a:pPr algn="ctr">
              <a:lnSpc>
                <a:spcPts val="2400"/>
              </a:lnSpc>
            </a:pPr>
            <a:r>
              <a:rPr sz="1500" b="0" i="0" u="none">
                <a:solidFill>
                  <a:srgbClr val="334155"/>
                </a:solidFill>
                <a:latin typeface="Lato"/>
              </a:rPr>
              <a:t>Triển khai thành công pipeline chuẩn xác. Tốc độ dự đoán cực nhanh và nhẹ. Giao diện Web (Streamlit) hoạt động ổn định và mượt mà.</a:t>
            </a:r>
          </a:p>
        </p:txBody>
      </p:sp>
      <p:sp>
        <p:nvSpPr>
          <p:cNvPr id="8" name="TextBox 7"/>
          <p:cNvSpPr txBox="1"/>
          <p:nvPr/>
        </p:nvSpPr>
        <p:spPr>
          <a:xfrm>
            <a:off x="4572524" y="2581275"/>
            <a:ext cx="3047099" cy="369332"/>
          </a:xfrm>
          <a:prstGeom prst="rect">
            <a:avLst/>
          </a:prstGeom>
          <a:noFill/>
        </p:spPr>
        <p:txBody>
          <a:bodyPr wrap="square" lIns="0" tIns="0" rIns="0" bIns="0" anchor="t">
            <a:spAutoFit/>
          </a:bodyPr>
          <a:lstStyle/>
          <a:p>
            <a:pPr algn="ctr"/>
            <a:r>
              <a:rPr sz="2400" b="1" i="0" u="none">
                <a:solidFill>
                  <a:srgbClr val="0B2F5C"/>
                </a:solidFill>
                <a:latin typeface="+mj-lt"/>
              </a:rPr>
              <a:t>Hạn chế</a:t>
            </a:r>
          </a:p>
        </p:txBody>
      </p:sp>
      <p:sp>
        <p:nvSpPr>
          <p:cNvPr id="9" name="TextBox 8"/>
          <p:cNvSpPr txBox="1"/>
          <p:nvPr/>
        </p:nvSpPr>
        <p:spPr>
          <a:xfrm>
            <a:off x="4645074" y="3038475"/>
            <a:ext cx="2901999" cy="1219200"/>
          </a:xfrm>
          <a:prstGeom prst="rect">
            <a:avLst/>
          </a:prstGeom>
          <a:noFill/>
        </p:spPr>
        <p:txBody>
          <a:bodyPr wrap="square" lIns="0" tIns="0" rIns="0" bIns="0" anchor="t">
            <a:spAutoFit/>
          </a:bodyPr>
          <a:lstStyle/>
          <a:p>
            <a:pPr algn="ctr">
              <a:lnSpc>
                <a:spcPts val="2400"/>
              </a:lnSpc>
            </a:pPr>
            <a:r>
              <a:rPr sz="1500" b="0" i="0" u="none">
                <a:solidFill>
                  <a:srgbClr val="334155"/>
                </a:solidFill>
                <a:latin typeface="Lato"/>
              </a:rPr>
              <a:t>Chỉ số R² khá thấp (20.13%), có nghĩa là mô hình chưa giải thích được phần lớn sự biến thiên của giá nhà trong bộ dữ liệu này.</a:t>
            </a:r>
          </a:p>
        </p:txBody>
      </p:sp>
      <p:sp>
        <p:nvSpPr>
          <p:cNvPr id="10" name="TextBox 9"/>
          <p:cNvSpPr txBox="1"/>
          <p:nvPr/>
        </p:nvSpPr>
        <p:spPr>
          <a:xfrm>
            <a:off x="8350824" y="2581275"/>
            <a:ext cx="3047099" cy="369332"/>
          </a:xfrm>
          <a:prstGeom prst="rect">
            <a:avLst/>
          </a:prstGeom>
          <a:noFill/>
        </p:spPr>
        <p:txBody>
          <a:bodyPr wrap="square" lIns="0" tIns="0" rIns="0" bIns="0" anchor="t">
            <a:spAutoFit/>
          </a:bodyPr>
          <a:lstStyle/>
          <a:p>
            <a:pPr algn="ctr"/>
            <a:r>
              <a:rPr sz="2400" b="1" i="0" u="none">
                <a:solidFill>
                  <a:srgbClr val="0B2F5C"/>
                </a:solidFill>
                <a:latin typeface="+mj-lt"/>
              </a:rPr>
              <a:t>Nguyên nhân</a:t>
            </a:r>
          </a:p>
        </p:txBody>
      </p:sp>
      <p:sp>
        <p:nvSpPr>
          <p:cNvPr id="11" name="TextBox 10"/>
          <p:cNvSpPr txBox="1"/>
          <p:nvPr/>
        </p:nvSpPr>
        <p:spPr>
          <a:xfrm>
            <a:off x="8423374" y="3038475"/>
            <a:ext cx="2901999" cy="1524000"/>
          </a:xfrm>
          <a:prstGeom prst="rect">
            <a:avLst/>
          </a:prstGeom>
          <a:noFill/>
        </p:spPr>
        <p:txBody>
          <a:bodyPr wrap="square" lIns="0" tIns="0" rIns="0" bIns="0" anchor="t">
            <a:spAutoFit/>
          </a:bodyPr>
          <a:lstStyle/>
          <a:p>
            <a:pPr algn="ctr">
              <a:lnSpc>
                <a:spcPts val="2400"/>
              </a:lnSpc>
            </a:pPr>
            <a:r>
              <a:rPr sz="1500" b="0" i="0" u="none">
                <a:solidFill>
                  <a:srgbClr val="334155"/>
                </a:solidFill>
                <a:latin typeface="Lato"/>
              </a:rPr>
              <a:t>Thực tế thị trường chứa nhiều yếu tố phi tuyến phức tạp. Mô hình tuyến tính đơn giản chưa nắm bắt hết, kèm theo chất lượng dữ liệu đầu vào (nhiều biến nhiễu).</a:t>
            </a:r>
          </a:p>
        </p:txBody>
      </p:sp>
      <p:pic>
        <p:nvPicPr>
          <p:cNvPr id="12" name="Picture 11" descr="image.png"/>
          <p:cNvPicPr>
            <a:picLocks noChangeAspect="1"/>
          </p:cNvPicPr>
          <p:nvPr/>
        </p:nvPicPr>
        <p:blipFill>
          <a:blip r:embed="rId6"/>
          <a:stretch>
            <a:fillRect/>
          </a:stretch>
        </p:blipFill>
        <p:spPr>
          <a:xfrm>
            <a:off x="2089100" y="1895475"/>
            <a:ext cx="457200" cy="457200"/>
          </a:xfrm>
          <a:prstGeom prst="rect">
            <a:avLst/>
          </a:prstGeom>
        </p:spPr>
      </p:pic>
      <p:pic>
        <p:nvPicPr>
          <p:cNvPr id="13" name="Picture 12" descr="image.png"/>
          <p:cNvPicPr>
            <a:picLocks noChangeAspect="1"/>
          </p:cNvPicPr>
          <p:nvPr/>
        </p:nvPicPr>
        <p:blipFill>
          <a:blip r:embed="rId7"/>
          <a:stretch>
            <a:fillRect/>
          </a:stretch>
        </p:blipFill>
        <p:spPr>
          <a:xfrm>
            <a:off x="5867400" y="1895475"/>
            <a:ext cx="457200" cy="457200"/>
          </a:xfrm>
          <a:prstGeom prst="rect">
            <a:avLst/>
          </a:prstGeom>
        </p:spPr>
      </p:pic>
      <p:pic>
        <p:nvPicPr>
          <p:cNvPr id="14" name="Picture 13" descr="image.png"/>
          <p:cNvPicPr>
            <a:picLocks noChangeAspect="1"/>
          </p:cNvPicPr>
          <p:nvPr/>
        </p:nvPicPr>
        <p:blipFill>
          <a:blip r:embed="rId8"/>
          <a:stretch>
            <a:fillRect/>
          </a:stretch>
        </p:blipFill>
        <p:spPr>
          <a:xfrm>
            <a:off x="9645699" y="1895475"/>
            <a:ext cx="457200" cy="457200"/>
          </a:xfrm>
          <a:prstGeom prst="rect">
            <a:avLst/>
          </a:prstGeom>
        </p:spPr>
      </p:pic>
      <p:sp>
        <p:nvSpPr>
          <p:cNvPr id="15" name="TextBox 14"/>
          <p:cNvSpPr txBox="1"/>
          <p:nvPr/>
        </p:nvSpPr>
        <p:spPr>
          <a:xfrm>
            <a:off x="571500" y="571500"/>
            <a:ext cx="11601450" cy="484748"/>
          </a:xfrm>
          <a:prstGeom prst="rect">
            <a:avLst/>
          </a:prstGeom>
          <a:noFill/>
        </p:spPr>
        <p:txBody>
          <a:bodyPr wrap="square" lIns="0" tIns="0" rIns="0" bIns="0" anchor="t">
            <a:spAutoFit/>
          </a:bodyPr>
          <a:lstStyle/>
          <a:p>
            <a:pPr algn="l"/>
            <a:r>
              <a:rPr sz="3150" b="1" i="0" u="none">
                <a:solidFill>
                  <a:srgbClr val="0B2F5C"/>
                </a:solidFill>
                <a:latin typeface="Cambria" panose="02040503050406030204" pitchFamily="18" charset="0"/>
                <a:ea typeface="Cambria" panose="02040503050406030204" pitchFamily="18" charset="0"/>
              </a:rPr>
              <a:t>Nhận xét kết quả</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552575"/>
            <a:ext cx="3492549" cy="4733925"/>
          </a:xfrm>
          <a:prstGeom prst="rect">
            <a:avLst/>
          </a:prstGeom>
        </p:spPr>
      </p:pic>
      <p:pic>
        <p:nvPicPr>
          <p:cNvPr id="4" name="Picture 3" descr="image.png"/>
          <p:cNvPicPr>
            <a:picLocks noChangeAspect="1"/>
          </p:cNvPicPr>
          <p:nvPr/>
        </p:nvPicPr>
        <p:blipFill>
          <a:blip r:embed="rId4"/>
          <a:stretch>
            <a:fillRect/>
          </a:stretch>
        </p:blipFill>
        <p:spPr>
          <a:xfrm>
            <a:off x="4349799" y="1552575"/>
            <a:ext cx="3492549" cy="4733925"/>
          </a:xfrm>
          <a:prstGeom prst="rect">
            <a:avLst/>
          </a:prstGeom>
        </p:spPr>
      </p:pic>
      <p:pic>
        <p:nvPicPr>
          <p:cNvPr id="5" name="Picture 4" descr="image.png"/>
          <p:cNvPicPr>
            <a:picLocks noChangeAspect="1"/>
          </p:cNvPicPr>
          <p:nvPr/>
        </p:nvPicPr>
        <p:blipFill>
          <a:blip r:embed="rId5"/>
          <a:stretch>
            <a:fillRect/>
          </a:stretch>
        </p:blipFill>
        <p:spPr>
          <a:xfrm>
            <a:off x="8128099" y="1552575"/>
            <a:ext cx="3492549" cy="4733925"/>
          </a:xfrm>
          <a:prstGeom prst="rect">
            <a:avLst/>
          </a:prstGeom>
        </p:spPr>
      </p:pic>
      <p:sp>
        <p:nvSpPr>
          <p:cNvPr id="6" name="TextBox 5"/>
          <p:cNvSpPr txBox="1"/>
          <p:nvPr/>
        </p:nvSpPr>
        <p:spPr>
          <a:xfrm>
            <a:off x="794225" y="2581275"/>
            <a:ext cx="3047099" cy="369332"/>
          </a:xfrm>
          <a:prstGeom prst="rect">
            <a:avLst/>
          </a:prstGeom>
          <a:noFill/>
        </p:spPr>
        <p:txBody>
          <a:bodyPr wrap="square" lIns="0" tIns="0" rIns="0" bIns="0" anchor="t">
            <a:spAutoFit/>
          </a:bodyPr>
          <a:lstStyle/>
          <a:p>
            <a:pPr algn="ctr"/>
            <a:r>
              <a:rPr sz="2400" b="1" i="0" u="none">
                <a:solidFill>
                  <a:srgbClr val="0B2F5C"/>
                </a:solidFill>
                <a:latin typeface="+mj-lt"/>
              </a:rPr>
              <a:t>Về thuật toán</a:t>
            </a:r>
          </a:p>
        </p:txBody>
      </p:sp>
      <p:sp>
        <p:nvSpPr>
          <p:cNvPr id="7" name="TextBox 6"/>
          <p:cNvSpPr txBox="1"/>
          <p:nvPr/>
        </p:nvSpPr>
        <p:spPr>
          <a:xfrm>
            <a:off x="866775" y="3038475"/>
            <a:ext cx="2901999" cy="1524000"/>
          </a:xfrm>
          <a:prstGeom prst="rect">
            <a:avLst/>
          </a:prstGeom>
          <a:noFill/>
        </p:spPr>
        <p:txBody>
          <a:bodyPr wrap="square" lIns="0" tIns="0" rIns="0" bIns="0" anchor="t">
            <a:spAutoFit/>
          </a:bodyPr>
          <a:lstStyle/>
          <a:p>
            <a:pPr algn="l">
              <a:lnSpc>
                <a:spcPts val="2400"/>
              </a:lnSpc>
            </a:pPr>
            <a:r>
              <a:rPr sz="1500" b="0" i="0" u="none">
                <a:solidFill>
                  <a:srgbClr val="334155"/>
                </a:solidFill>
                <a:latin typeface="Lato"/>
              </a:rPr>
              <a:t>Tiến tới áp dụng các mô hình phi tuyến tính mạnh mẽ hơn (Ensemble Learning) như Random Forest, XGBoost, LightGBM hoặc Deep Learning.</a:t>
            </a:r>
          </a:p>
        </p:txBody>
      </p:sp>
      <p:sp>
        <p:nvSpPr>
          <p:cNvPr id="8" name="TextBox 7"/>
          <p:cNvSpPr txBox="1"/>
          <p:nvPr/>
        </p:nvSpPr>
        <p:spPr>
          <a:xfrm>
            <a:off x="4572524" y="2581275"/>
            <a:ext cx="3047099" cy="369332"/>
          </a:xfrm>
          <a:prstGeom prst="rect">
            <a:avLst/>
          </a:prstGeom>
          <a:noFill/>
        </p:spPr>
        <p:txBody>
          <a:bodyPr wrap="square" lIns="0" tIns="0" rIns="0" bIns="0" anchor="t">
            <a:spAutoFit/>
          </a:bodyPr>
          <a:lstStyle/>
          <a:p>
            <a:pPr algn="ctr"/>
            <a:r>
              <a:rPr sz="2400" b="1" i="0" u="none">
                <a:solidFill>
                  <a:srgbClr val="0B2F5C"/>
                </a:solidFill>
                <a:latin typeface="+mj-lt"/>
              </a:rPr>
              <a:t>Về dữ liệu</a:t>
            </a:r>
          </a:p>
        </p:txBody>
      </p:sp>
      <p:sp>
        <p:nvSpPr>
          <p:cNvPr id="9" name="TextBox 8"/>
          <p:cNvSpPr txBox="1"/>
          <p:nvPr/>
        </p:nvSpPr>
        <p:spPr>
          <a:xfrm>
            <a:off x="4645074" y="3038475"/>
            <a:ext cx="2901999" cy="1219200"/>
          </a:xfrm>
          <a:prstGeom prst="rect">
            <a:avLst/>
          </a:prstGeom>
          <a:noFill/>
        </p:spPr>
        <p:txBody>
          <a:bodyPr wrap="square" lIns="0" tIns="0" rIns="0" bIns="0" anchor="t">
            <a:spAutoFit/>
          </a:bodyPr>
          <a:lstStyle/>
          <a:p>
            <a:pPr algn="l">
              <a:lnSpc>
                <a:spcPts val="2400"/>
              </a:lnSpc>
            </a:pPr>
            <a:r>
              <a:rPr sz="1500" b="0" i="0" u="none">
                <a:solidFill>
                  <a:srgbClr val="334155"/>
                </a:solidFill>
                <a:latin typeface="Lato"/>
              </a:rPr>
              <a:t>Tiếp tục khai phá, kết hợp thêm các đặc trưng mới (Feature Engineering) và áp dụng các kỹ thuật làm sạch dữ liệu tinh vi hơn.</a:t>
            </a:r>
          </a:p>
        </p:txBody>
      </p:sp>
      <p:sp>
        <p:nvSpPr>
          <p:cNvPr id="10" name="TextBox 9"/>
          <p:cNvSpPr txBox="1"/>
          <p:nvPr/>
        </p:nvSpPr>
        <p:spPr>
          <a:xfrm>
            <a:off x="8350824" y="2581275"/>
            <a:ext cx="3047099" cy="369332"/>
          </a:xfrm>
          <a:prstGeom prst="rect">
            <a:avLst/>
          </a:prstGeom>
          <a:noFill/>
        </p:spPr>
        <p:txBody>
          <a:bodyPr wrap="square" lIns="0" tIns="0" rIns="0" bIns="0" anchor="t">
            <a:spAutoFit/>
          </a:bodyPr>
          <a:lstStyle/>
          <a:p>
            <a:pPr algn="ctr"/>
            <a:r>
              <a:rPr sz="2400" b="1" i="0" u="none">
                <a:solidFill>
                  <a:srgbClr val="0B2F5C"/>
                </a:solidFill>
                <a:latin typeface="+mj-lt"/>
              </a:rPr>
              <a:t>Về ứng dụng</a:t>
            </a:r>
          </a:p>
        </p:txBody>
      </p:sp>
      <p:sp>
        <p:nvSpPr>
          <p:cNvPr id="11" name="TextBox 10"/>
          <p:cNvSpPr txBox="1"/>
          <p:nvPr/>
        </p:nvSpPr>
        <p:spPr>
          <a:xfrm>
            <a:off x="8423374" y="3038475"/>
            <a:ext cx="2901999" cy="1524000"/>
          </a:xfrm>
          <a:prstGeom prst="rect">
            <a:avLst/>
          </a:prstGeom>
          <a:noFill/>
        </p:spPr>
        <p:txBody>
          <a:bodyPr wrap="square" lIns="0" tIns="0" rIns="0" bIns="0" anchor="t">
            <a:spAutoFit/>
          </a:bodyPr>
          <a:lstStyle/>
          <a:p>
            <a:pPr algn="l">
              <a:lnSpc>
                <a:spcPts val="2400"/>
              </a:lnSpc>
            </a:pPr>
            <a:r>
              <a:rPr sz="1500" b="0" i="0" u="none">
                <a:solidFill>
                  <a:srgbClr val="334155"/>
                </a:solidFill>
                <a:latin typeface="Lato"/>
              </a:rPr>
              <a:t>Nâng cấp Dashboard tương tác. Triển khai (Deploy) Web App lên các nền tảng Cloud và cập nhật dữ liệu dự đoán thời gian thực (Real-time).</a:t>
            </a:r>
          </a:p>
        </p:txBody>
      </p:sp>
      <p:pic>
        <p:nvPicPr>
          <p:cNvPr id="12" name="Picture 11" descr="image.png"/>
          <p:cNvPicPr>
            <a:picLocks noChangeAspect="1"/>
          </p:cNvPicPr>
          <p:nvPr/>
        </p:nvPicPr>
        <p:blipFill>
          <a:blip r:embed="rId6"/>
          <a:stretch>
            <a:fillRect/>
          </a:stretch>
        </p:blipFill>
        <p:spPr>
          <a:xfrm>
            <a:off x="2089100" y="1895475"/>
            <a:ext cx="457200" cy="457200"/>
          </a:xfrm>
          <a:prstGeom prst="rect">
            <a:avLst/>
          </a:prstGeom>
        </p:spPr>
      </p:pic>
      <p:pic>
        <p:nvPicPr>
          <p:cNvPr id="13" name="Picture 12" descr="image.png"/>
          <p:cNvPicPr>
            <a:picLocks noChangeAspect="1"/>
          </p:cNvPicPr>
          <p:nvPr/>
        </p:nvPicPr>
        <p:blipFill>
          <a:blip r:embed="rId7"/>
          <a:stretch>
            <a:fillRect/>
          </a:stretch>
        </p:blipFill>
        <p:spPr>
          <a:xfrm>
            <a:off x="5895975" y="1895475"/>
            <a:ext cx="400050" cy="457200"/>
          </a:xfrm>
          <a:prstGeom prst="rect">
            <a:avLst/>
          </a:prstGeom>
        </p:spPr>
      </p:pic>
      <p:pic>
        <p:nvPicPr>
          <p:cNvPr id="14" name="Picture 13" descr="image.png"/>
          <p:cNvPicPr>
            <a:picLocks noChangeAspect="1"/>
          </p:cNvPicPr>
          <p:nvPr/>
        </p:nvPicPr>
        <p:blipFill>
          <a:blip r:embed="rId8"/>
          <a:stretch>
            <a:fillRect/>
          </a:stretch>
        </p:blipFill>
        <p:spPr>
          <a:xfrm>
            <a:off x="9588549" y="1895475"/>
            <a:ext cx="571500" cy="457200"/>
          </a:xfrm>
          <a:prstGeom prst="rect">
            <a:avLst/>
          </a:prstGeom>
        </p:spPr>
      </p:pic>
      <p:sp>
        <p:nvSpPr>
          <p:cNvPr id="15" name="TextBox 14"/>
          <p:cNvSpPr txBox="1"/>
          <p:nvPr/>
        </p:nvSpPr>
        <p:spPr>
          <a:xfrm>
            <a:off x="571500" y="571500"/>
            <a:ext cx="11601450" cy="484748"/>
          </a:xfrm>
          <a:prstGeom prst="rect">
            <a:avLst/>
          </a:prstGeom>
          <a:noFill/>
        </p:spPr>
        <p:txBody>
          <a:bodyPr wrap="square" lIns="0" tIns="0" rIns="0" bIns="0" anchor="t">
            <a:spAutoFit/>
          </a:bodyPr>
          <a:lstStyle/>
          <a:p>
            <a:pPr algn="l"/>
            <a:r>
              <a:rPr sz="3150" b="1" i="0" u="none">
                <a:solidFill>
                  <a:srgbClr val="0B2F5C"/>
                </a:solidFill>
                <a:latin typeface="Cambria" panose="02040503050406030204" pitchFamily="18" charset="0"/>
                <a:ea typeface="Cambria" panose="02040503050406030204" pitchFamily="18" charset="0"/>
              </a:rPr>
              <a:t>Kết luận &amp; Hướng phát triển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552575"/>
            <a:ext cx="11049000" cy="4486275"/>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262277141"/>
              </p:ext>
            </p:extLst>
          </p:nvPr>
        </p:nvGraphicFramePr>
        <p:xfrm>
          <a:off x="581025" y="1562100"/>
          <a:ext cx="11029949" cy="4467225"/>
        </p:xfrm>
        <a:graphic>
          <a:graphicData uri="http://schemas.openxmlformats.org/drawingml/2006/table">
            <a:tbl>
              <a:tblPr firstRow="1" bandRow="1">
                <a:tableStyleId>{5C22544A-7EE6-4342-B048-85BDC9FD1C3A}</a:tableStyleId>
              </a:tblPr>
              <a:tblGrid>
                <a:gridCol w="5718423">
                  <a:extLst>
                    <a:ext uri="{9D8B030D-6E8A-4147-A177-3AD203B41FA5}">
                      <a16:colId xmlns:a16="http://schemas.microsoft.com/office/drawing/2014/main" val="20000"/>
                    </a:ext>
                  </a:extLst>
                </a:gridCol>
                <a:gridCol w="2463254">
                  <a:extLst>
                    <a:ext uri="{9D8B030D-6E8A-4147-A177-3AD203B41FA5}">
                      <a16:colId xmlns:a16="http://schemas.microsoft.com/office/drawing/2014/main" val="20001"/>
                    </a:ext>
                  </a:extLst>
                </a:gridCol>
                <a:gridCol w="2848272">
                  <a:extLst>
                    <a:ext uri="{9D8B030D-6E8A-4147-A177-3AD203B41FA5}">
                      <a16:colId xmlns:a16="http://schemas.microsoft.com/office/drawing/2014/main" val="20002"/>
                    </a:ext>
                  </a:extLst>
                </a:gridCol>
              </a:tblGrid>
              <a:tr h="744537">
                <a:tc>
                  <a:txBody>
                    <a:bodyPr/>
                    <a:lstStyle/>
                    <a:p>
                      <a:pPr algn="l"/>
                      <a:r>
                        <a:rPr lang="en-US" sz="1800" b="1" i="0" u="none">
                          <a:solidFill>
                            <a:srgbClr val="FFFFFF"/>
                          </a:solidFill>
                          <a:latin typeface="+mj-lt"/>
                        </a:rPr>
                        <a:t>   </a:t>
                      </a:r>
                      <a:r>
                        <a:rPr sz="1800" b="1" i="0" u="none">
                          <a:solidFill>
                            <a:srgbClr val="FFFFFF"/>
                          </a:solidFill>
                          <a:latin typeface="+mj-lt"/>
                        </a:rPr>
                        <a:t>Nội dung công việc chính</a:t>
                      </a:r>
                    </a:p>
                  </a:txBody>
                  <a:tcPr marL="63500" marR="63500" marT="25400" marB="25400" anchor="ctr">
                    <a:lnL>
                      <a:noFill/>
                    </a:lnL>
                    <a:lnR>
                      <a:noFill/>
                    </a:lnR>
                    <a:lnT>
                      <a:noFill/>
                    </a:lnT>
                    <a:lnB>
                      <a:noFill/>
                    </a:lnB>
                    <a:solidFill>
                      <a:srgbClr val="0B2F5C"/>
                    </a:solidFill>
                  </a:tcPr>
                </a:tc>
                <a:tc>
                  <a:txBody>
                    <a:bodyPr/>
                    <a:lstStyle/>
                    <a:p>
                      <a:pPr algn="ctr"/>
                      <a:r>
                        <a:rPr sz="1600" b="1" i="0" u="none">
                          <a:solidFill>
                            <a:srgbClr val="FFFFFF"/>
                          </a:solidFill>
                          <a:latin typeface="+mj-lt"/>
                        </a:rPr>
                        <a:t>Phan Hoài Huy
(24DH190313)</a:t>
                      </a:r>
                    </a:p>
                  </a:txBody>
                  <a:tcPr marL="63500" marR="63500" marT="25400" marB="25400" anchor="ctr">
                    <a:lnL>
                      <a:noFill/>
                    </a:lnL>
                    <a:lnR>
                      <a:noFill/>
                    </a:lnR>
                    <a:lnT>
                      <a:noFill/>
                    </a:lnT>
                    <a:lnB>
                      <a:noFill/>
                    </a:lnB>
                    <a:solidFill>
                      <a:srgbClr val="0B2F5C"/>
                    </a:solidFill>
                  </a:tcPr>
                </a:tc>
                <a:tc>
                  <a:txBody>
                    <a:bodyPr/>
                    <a:lstStyle/>
                    <a:p>
                      <a:pPr algn="ctr"/>
                      <a:r>
                        <a:rPr sz="1600" b="1" i="0" u="none">
                          <a:solidFill>
                            <a:srgbClr val="FFFFFF"/>
                          </a:solidFill>
                          <a:latin typeface="+mj-lt"/>
                        </a:rPr>
                        <a:t>Mai Thị Ngọc La</a:t>
                      </a:r>
                      <a:r>
                        <a:rPr lang="en-US" sz="1600" b="1" i="0" u="none">
                          <a:solidFill>
                            <a:srgbClr val="FFFFFF"/>
                          </a:solidFill>
                          <a:latin typeface="+mj-lt"/>
                        </a:rPr>
                        <a:t>m</a:t>
                      </a:r>
                    </a:p>
                    <a:p>
                      <a:pPr algn="ctr"/>
                      <a:r>
                        <a:rPr sz="1600" b="1" i="0" u="none">
                          <a:solidFill>
                            <a:srgbClr val="FFFFFF"/>
                          </a:solidFill>
                          <a:latin typeface="+mj-lt"/>
                        </a:rPr>
                        <a:t>(24DH190093)</a:t>
                      </a:r>
                    </a:p>
                  </a:txBody>
                  <a:tcPr marL="63500" marR="63500" marT="25400" marB="25400" anchor="ctr">
                    <a:lnL>
                      <a:noFill/>
                    </a:lnL>
                    <a:lnR>
                      <a:noFill/>
                    </a:lnR>
                    <a:lnT>
                      <a:noFill/>
                    </a:lnT>
                    <a:lnB>
                      <a:noFill/>
                    </a:lnB>
                    <a:solidFill>
                      <a:srgbClr val="0B2F5C"/>
                    </a:solidFill>
                  </a:tcPr>
                </a:tc>
                <a:extLst>
                  <a:ext uri="{0D108BD9-81ED-4DB2-BD59-A6C34878D82A}">
                    <a16:rowId xmlns:a16="http://schemas.microsoft.com/office/drawing/2014/main" val="10000"/>
                  </a:ext>
                </a:extLst>
              </a:tr>
              <a:tr h="744537">
                <a:tc>
                  <a:txBody>
                    <a:bodyPr/>
                    <a:lstStyle/>
                    <a:p>
                      <a:pPr algn="l"/>
                      <a:r>
                        <a:rPr lang="en-US" sz="1500" b="1" i="0" u="none">
                          <a:solidFill>
                            <a:srgbClr val="334155"/>
                          </a:solidFill>
                          <a:latin typeface="Lato"/>
                        </a:rPr>
                        <a:t>   </a:t>
                      </a:r>
                      <a:r>
                        <a:rPr sz="1500" b="1" i="0" u="none">
                          <a:solidFill>
                            <a:srgbClr val="334155"/>
                          </a:solidFill>
                          <a:latin typeface="Lato"/>
                        </a:rPr>
                        <a:t>Thu thập, Tiền xử lý &amp; Khám phá dữ liệu (EDA)</a:t>
                      </a:r>
                    </a:p>
                  </a:txBody>
                  <a:tcPr marL="63500" marR="63500" marT="25400" marB="25400" anchor="ctr">
                    <a:lnL>
                      <a:noFill/>
                    </a:lnL>
                    <a:lnR>
                      <a:noFill/>
                    </a:lnR>
                    <a:lnT>
                      <a:noFill/>
                    </a:lnT>
                    <a:lnB>
                      <a:noFill/>
                    </a:lnB>
                    <a:noFill/>
                  </a:tcPr>
                </a:tc>
                <a:tc>
                  <a:txBody>
                    <a:bodyPr/>
                    <a:lstStyle/>
                    <a:p>
                      <a:pPr algn="l"/>
                      <a:r>
                        <a:rPr sz="1500" b="0" i="0" u="none">
                          <a:solidFill>
                            <a:srgbClr val="334155"/>
                          </a:solidFill>
                          <a:latin typeface="Lato"/>
                        </a:rPr>
                        <a:t>40%</a:t>
                      </a:r>
                    </a:p>
                  </a:txBody>
                  <a:tcPr marL="63500" marR="63500" marT="25400" marB="25400" anchor="ctr">
                    <a:lnL>
                      <a:noFill/>
                    </a:lnL>
                    <a:lnR>
                      <a:noFill/>
                    </a:lnR>
                    <a:lnT>
                      <a:noFill/>
                    </a:lnT>
                    <a:lnB>
                      <a:noFill/>
                    </a:lnB>
                    <a:noFill/>
                  </a:tcPr>
                </a:tc>
                <a:tc>
                  <a:txBody>
                    <a:bodyPr/>
                    <a:lstStyle/>
                    <a:p>
                      <a:pPr algn="l"/>
                      <a:r>
                        <a:rPr sz="1500" b="0" i="0" u="none">
                          <a:solidFill>
                            <a:srgbClr val="334155"/>
                          </a:solidFill>
                          <a:latin typeface="Lato"/>
                        </a:rPr>
                        <a:t>60%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744537">
                <a:tc>
                  <a:txBody>
                    <a:bodyPr/>
                    <a:lstStyle/>
                    <a:p>
                      <a:pPr algn="l"/>
                      <a:r>
                        <a:rPr lang="en-US" sz="1500" b="1" i="0" u="none">
                          <a:solidFill>
                            <a:srgbClr val="334155"/>
                          </a:solidFill>
                          <a:latin typeface="Lato"/>
                        </a:rPr>
                        <a:t>  </a:t>
                      </a:r>
                      <a:r>
                        <a:rPr sz="1500" b="1" i="0" u="none">
                          <a:solidFill>
                            <a:srgbClr val="334155"/>
                          </a:solidFill>
                          <a:latin typeface="Lato"/>
                        </a:rPr>
                        <a:t>Cài đặt &amp; Huấn luyện thuật toán (Pipeline)</a:t>
                      </a:r>
                    </a:p>
                  </a:txBody>
                  <a:tcPr marL="63500" marR="63500" marT="25400" marB="25400" anchor="ctr">
                    <a:lnL>
                      <a:noFill/>
                    </a:lnL>
                    <a:lnR>
                      <a:noFill/>
                    </a:lnR>
                    <a:lnT>
                      <a:noFill/>
                    </a:lnT>
                    <a:lnB>
                      <a:noFill/>
                    </a:lnB>
                    <a:solidFill>
                      <a:srgbClr val="F8FAFC"/>
                    </a:solidFill>
                  </a:tcPr>
                </a:tc>
                <a:tc>
                  <a:txBody>
                    <a:bodyPr/>
                    <a:lstStyle/>
                    <a:p>
                      <a:pPr algn="l"/>
                      <a:r>
                        <a:rPr sz="1500" b="0" i="0" u="none">
                          <a:solidFill>
                            <a:srgbClr val="334155"/>
                          </a:solidFill>
                          <a:latin typeface="Lato"/>
                        </a:rPr>
                        <a:t>80%</a:t>
                      </a:r>
                    </a:p>
                  </a:txBody>
                  <a:tcPr marL="63500" marR="63500" marT="25400" marB="25400" anchor="ctr">
                    <a:lnL>
                      <a:noFill/>
                    </a:lnL>
                    <a:lnR>
                      <a:noFill/>
                    </a:lnR>
                    <a:lnT>
                      <a:noFill/>
                    </a:lnT>
                    <a:lnB>
                      <a:noFill/>
                    </a:lnB>
                    <a:solidFill>
                      <a:srgbClr val="F8FAFC"/>
                    </a:solidFill>
                  </a:tcPr>
                </a:tc>
                <a:tc>
                  <a:txBody>
                    <a:bodyPr/>
                    <a:lstStyle/>
                    <a:p>
                      <a:pPr algn="l"/>
                      <a:r>
                        <a:rPr sz="1500" b="0" i="0" u="none">
                          <a:solidFill>
                            <a:srgbClr val="334155"/>
                          </a:solidFill>
                          <a:latin typeface="Lato"/>
                        </a:rPr>
                        <a:t>20%</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744537">
                <a:tc>
                  <a:txBody>
                    <a:bodyPr/>
                    <a:lstStyle/>
                    <a:p>
                      <a:pPr algn="l"/>
                      <a:r>
                        <a:rPr lang="en-US" sz="1500" b="1" i="0" u="none">
                          <a:solidFill>
                            <a:srgbClr val="334155"/>
                          </a:solidFill>
                          <a:latin typeface="Lato"/>
                        </a:rPr>
                        <a:t>  </a:t>
                      </a:r>
                      <a:r>
                        <a:rPr sz="1500" b="1" i="0" u="none">
                          <a:solidFill>
                            <a:srgbClr val="334155"/>
                          </a:solidFill>
                          <a:latin typeface="Lato"/>
                        </a:rPr>
                        <a:t>Xây dựng giao diện ứng dụng (Streamlit)</a:t>
                      </a:r>
                    </a:p>
                  </a:txBody>
                  <a:tcPr marL="63500" marR="63500" marT="25400" marB="25400" anchor="ctr">
                    <a:lnL>
                      <a:noFill/>
                    </a:lnL>
                    <a:lnR>
                      <a:noFill/>
                    </a:lnR>
                    <a:lnT>
                      <a:noFill/>
                    </a:lnT>
                    <a:lnB>
                      <a:noFill/>
                    </a:lnB>
                    <a:noFill/>
                  </a:tcPr>
                </a:tc>
                <a:tc>
                  <a:txBody>
                    <a:bodyPr/>
                    <a:lstStyle/>
                    <a:p>
                      <a:pPr algn="l"/>
                      <a:r>
                        <a:rPr sz="1500" b="0" i="0" u="none">
                          <a:solidFill>
                            <a:srgbClr val="334155"/>
                          </a:solidFill>
                          <a:latin typeface="Lato"/>
                        </a:rPr>
                        <a:t>20%</a:t>
                      </a:r>
                    </a:p>
                  </a:txBody>
                  <a:tcPr marL="63500" marR="63500" marT="25400" marB="25400" anchor="ctr">
                    <a:lnL>
                      <a:noFill/>
                    </a:lnL>
                    <a:lnR>
                      <a:noFill/>
                    </a:lnR>
                    <a:lnT>
                      <a:noFill/>
                    </a:lnT>
                    <a:lnB>
                      <a:noFill/>
                    </a:lnB>
                    <a:noFill/>
                  </a:tcPr>
                </a:tc>
                <a:tc>
                  <a:txBody>
                    <a:bodyPr/>
                    <a:lstStyle/>
                    <a:p>
                      <a:pPr algn="l"/>
                      <a:r>
                        <a:rPr sz="1500" b="0" i="0" u="none">
                          <a:solidFill>
                            <a:srgbClr val="334155"/>
                          </a:solidFill>
                          <a:latin typeface="Lato"/>
                        </a:rPr>
                        <a:t>80%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744537">
                <a:tc>
                  <a:txBody>
                    <a:bodyPr/>
                    <a:lstStyle/>
                    <a:p>
                      <a:pPr algn="l"/>
                      <a:r>
                        <a:rPr lang="en-US" sz="1500" b="1" i="0" u="none">
                          <a:solidFill>
                            <a:srgbClr val="334155"/>
                          </a:solidFill>
                          <a:latin typeface="Lato"/>
                        </a:rPr>
                        <a:t>  </a:t>
                      </a:r>
                      <a:r>
                        <a:rPr sz="1500" b="1" i="0" u="none">
                          <a:solidFill>
                            <a:srgbClr val="334155"/>
                          </a:solidFill>
                          <a:latin typeface="Lato"/>
                        </a:rPr>
                        <a:t>Chạy thực nghiệm &amp; Đánh giá mô hình</a:t>
                      </a:r>
                    </a:p>
                  </a:txBody>
                  <a:tcPr marL="63500" marR="63500" marT="25400" marB="25400" anchor="ctr">
                    <a:lnL>
                      <a:noFill/>
                    </a:lnL>
                    <a:lnR>
                      <a:noFill/>
                    </a:lnR>
                    <a:lnT>
                      <a:noFill/>
                    </a:lnT>
                    <a:lnB>
                      <a:noFill/>
                    </a:lnB>
                    <a:solidFill>
                      <a:srgbClr val="F8FAFC"/>
                    </a:solidFill>
                  </a:tcPr>
                </a:tc>
                <a:tc>
                  <a:txBody>
                    <a:bodyPr/>
                    <a:lstStyle/>
                    <a:p>
                      <a:pPr algn="l"/>
                      <a:r>
                        <a:rPr sz="1500" b="0" i="0" u="none">
                          <a:solidFill>
                            <a:srgbClr val="334155"/>
                          </a:solidFill>
                          <a:latin typeface="Lato"/>
                        </a:rPr>
                        <a:t>50%</a:t>
                      </a:r>
                    </a:p>
                  </a:txBody>
                  <a:tcPr marL="63500" marR="63500" marT="25400" marB="25400" anchor="ctr">
                    <a:lnL>
                      <a:noFill/>
                    </a:lnL>
                    <a:lnR>
                      <a:noFill/>
                    </a:lnR>
                    <a:lnT>
                      <a:noFill/>
                    </a:lnT>
                    <a:lnB>
                      <a:noFill/>
                    </a:lnB>
                    <a:solidFill>
                      <a:srgbClr val="F8FAFC"/>
                    </a:solidFill>
                  </a:tcPr>
                </a:tc>
                <a:tc>
                  <a:txBody>
                    <a:bodyPr/>
                    <a:lstStyle/>
                    <a:p>
                      <a:pPr algn="l"/>
                      <a:r>
                        <a:rPr sz="1500" b="0" i="0" u="none">
                          <a:solidFill>
                            <a:srgbClr val="334155"/>
                          </a:solidFill>
                          <a:latin typeface="Lato"/>
                        </a:rPr>
                        <a:t>50%</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744540">
                <a:tc>
                  <a:txBody>
                    <a:bodyPr/>
                    <a:lstStyle/>
                    <a:p>
                      <a:pPr algn="l"/>
                      <a:r>
                        <a:rPr lang="en-US" sz="1500" b="1" i="0" u="none">
                          <a:solidFill>
                            <a:srgbClr val="334155"/>
                          </a:solidFill>
                          <a:latin typeface="Lato"/>
                        </a:rPr>
                        <a:t>  </a:t>
                      </a:r>
                      <a:r>
                        <a:rPr sz="1500" b="1" i="0" u="none">
                          <a:solidFill>
                            <a:srgbClr val="334155"/>
                          </a:solidFill>
                          <a:latin typeface="Lato"/>
                        </a:rPr>
                        <a:t>Báo cáo &amp; Thiết kế Slide thuyết trình</a:t>
                      </a:r>
                    </a:p>
                  </a:txBody>
                  <a:tcPr marL="63500" marR="63500" marT="25400" marB="25400" anchor="ctr">
                    <a:lnL>
                      <a:noFill/>
                    </a:lnL>
                    <a:lnR>
                      <a:noFill/>
                    </a:lnR>
                    <a:lnT>
                      <a:noFill/>
                    </a:lnT>
                    <a:lnB>
                      <a:noFill/>
                    </a:lnB>
                    <a:noFill/>
                  </a:tcPr>
                </a:tc>
                <a:tc>
                  <a:txBody>
                    <a:bodyPr/>
                    <a:lstStyle/>
                    <a:p>
                      <a:pPr algn="l"/>
                      <a:r>
                        <a:rPr sz="1500" b="0" i="0" u="none">
                          <a:solidFill>
                            <a:srgbClr val="334155"/>
                          </a:solidFill>
                          <a:latin typeface="Lato"/>
                        </a:rPr>
                        <a:t>30%</a:t>
                      </a:r>
                    </a:p>
                  </a:txBody>
                  <a:tcPr marL="63500" marR="63500" marT="25400" marB="25400" anchor="ctr">
                    <a:lnL>
                      <a:noFill/>
                    </a:lnL>
                    <a:lnR>
                      <a:noFill/>
                    </a:lnR>
                    <a:lnT>
                      <a:noFill/>
                    </a:lnT>
                    <a:lnB>
                      <a:noFill/>
                    </a:lnB>
                    <a:noFill/>
                  </a:tcPr>
                </a:tc>
                <a:tc>
                  <a:txBody>
                    <a:bodyPr/>
                    <a:lstStyle/>
                    <a:p>
                      <a:pPr algn="l"/>
                      <a:r>
                        <a:rPr sz="1500" b="0" i="0" u="none">
                          <a:solidFill>
                            <a:srgbClr val="334155"/>
                          </a:solidFill>
                          <a:latin typeface="Lato"/>
                        </a:rPr>
                        <a:t>70%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
        <p:nvSpPr>
          <p:cNvPr id="5" name="Rectangle 4"/>
          <p:cNvSpPr/>
          <p:nvPr/>
        </p:nvSpPr>
        <p:spPr>
          <a:xfrm>
            <a:off x="581025" y="2547937"/>
            <a:ext cx="57184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299448" y="2547937"/>
            <a:ext cx="24632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762702" y="2547937"/>
            <a:ext cx="284827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81025" y="3243262"/>
            <a:ext cx="57184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99448" y="3243262"/>
            <a:ext cx="24632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762702" y="3243262"/>
            <a:ext cx="284827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81025" y="3938587"/>
            <a:ext cx="57184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99448" y="3938587"/>
            <a:ext cx="24632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762702" y="3938587"/>
            <a:ext cx="284827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81025" y="4633912"/>
            <a:ext cx="57184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99448" y="4633912"/>
            <a:ext cx="24632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762702" y="4633912"/>
            <a:ext cx="284827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81025" y="5329237"/>
            <a:ext cx="57184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99448" y="5329237"/>
            <a:ext cx="246325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762702" y="5329237"/>
            <a:ext cx="284827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1500" y="571500"/>
            <a:ext cx="11601450" cy="492443"/>
          </a:xfrm>
          <a:prstGeom prst="rect">
            <a:avLst/>
          </a:prstGeom>
          <a:noFill/>
        </p:spPr>
        <p:txBody>
          <a:bodyPr wrap="square" lIns="0" tIns="0" rIns="0" bIns="0" anchor="t">
            <a:spAutoFit/>
          </a:bodyPr>
          <a:lstStyle/>
          <a:p>
            <a:pPr algn="l"/>
            <a:r>
              <a:rPr sz="3200" b="1" i="0" u="none">
                <a:solidFill>
                  <a:srgbClr val="0B2F5C"/>
                </a:solidFill>
                <a:latin typeface="+mj-lt"/>
              </a:rPr>
              <a:t>Đóng góp của các thành viên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160883" y="1753790"/>
            <a:ext cx="1870233" cy="1143000"/>
          </a:xfrm>
          <a:prstGeom prst="rect">
            <a:avLst/>
          </a:prstGeom>
          <a:noFill/>
        </p:spPr>
        <p:txBody>
          <a:bodyPr wrap="square" lIns="0" tIns="0" rIns="0" bIns="0" anchor="t">
            <a:spAutoFit/>
          </a:bodyPr>
          <a:lstStyle/>
          <a:p>
            <a:pPr algn="ctr"/>
            <a:r>
              <a:rPr sz="6000" b="1" i="0" u="none">
                <a:solidFill>
                  <a:srgbClr val="0B2F5C"/>
                </a:solidFill>
                <a:latin typeface="Poppins"/>
              </a:rPr>
              <a:t>Q&amp;A</a:t>
            </a:r>
          </a:p>
        </p:txBody>
      </p:sp>
      <p:sp>
        <p:nvSpPr>
          <p:cNvPr id="4" name="TextBox 3"/>
          <p:cNvSpPr txBox="1"/>
          <p:nvPr/>
        </p:nvSpPr>
        <p:spPr>
          <a:xfrm>
            <a:off x="4149497" y="3087290"/>
            <a:ext cx="4080102" cy="431015"/>
          </a:xfrm>
          <a:prstGeom prst="rect">
            <a:avLst/>
          </a:prstGeom>
          <a:noFill/>
        </p:spPr>
        <p:txBody>
          <a:bodyPr wrap="square" lIns="0" tIns="0" rIns="0" bIns="0" anchor="t">
            <a:spAutoFit/>
          </a:bodyPr>
          <a:lstStyle/>
          <a:p>
            <a:pPr algn="ctr">
              <a:lnSpc>
                <a:spcPts val="3840"/>
              </a:lnSpc>
            </a:pPr>
            <a:r>
              <a:rPr sz="2400" b="0" i="0" u="none">
                <a:solidFill>
                  <a:srgbClr val="334155"/>
                </a:solidFill>
                <a:latin typeface="Lato"/>
              </a:rPr>
              <a:t>Cảm ơn sự chú ý lắng nghe!</a:t>
            </a:r>
          </a:p>
        </p:txBody>
      </p:sp>
      <p:sp>
        <p:nvSpPr>
          <p:cNvPr id="5" name="TextBox 4"/>
          <p:cNvSpPr txBox="1"/>
          <p:nvPr/>
        </p:nvSpPr>
        <p:spPr>
          <a:xfrm>
            <a:off x="2077342" y="4147839"/>
            <a:ext cx="8037165" cy="1005482"/>
          </a:xfrm>
          <a:prstGeom prst="rect">
            <a:avLst/>
          </a:prstGeom>
          <a:noFill/>
        </p:spPr>
        <p:txBody>
          <a:bodyPr wrap="square" lIns="0" tIns="0" rIns="0" bIns="0" anchor="t">
            <a:spAutoFit/>
          </a:bodyPr>
          <a:lstStyle/>
          <a:p>
            <a:pPr algn="ctr">
              <a:lnSpc>
                <a:spcPts val="2640"/>
              </a:lnSpc>
            </a:pPr>
            <a:r>
              <a:rPr sz="1650" b="0" i="0" u="none">
                <a:solidFill>
                  <a:srgbClr val="64748B"/>
                </a:solidFill>
                <a:latin typeface="Lato"/>
              </a:rPr>
              <a:t>Chúng em xin gửi lời cảm ơn đặc biệt đến </a:t>
            </a:r>
            <a:r>
              <a:rPr sz="1650" b="1" i="0" u="none">
                <a:solidFill>
                  <a:srgbClr val="64748B"/>
                </a:solidFill>
                <a:latin typeface="Lato"/>
              </a:rPr>
              <a:t>Thầy Huỳnh Thành Lộc</a:t>
            </a:r>
            <a:r>
              <a:rPr sz="1650" b="0" i="0" u="none">
                <a:solidFill>
                  <a:srgbClr val="64748B"/>
                </a:solidFill>
                <a:latin typeface="Lato"/>
              </a:rPr>
              <a:t> đã tận tình hướng dẫn.</a:t>
            </a:r>
            <a:r>
              <a:t>
</a:t>
            </a:r>
            <a:r>
              <a:rPr sz="1650" b="0" i="0" u="none">
                <a:solidFill>
                  <a:srgbClr val="64748B"/>
                </a:solidFill>
                <a:latin typeface="Lato"/>
              </a:rPr>
              <a:t> Mời Thầy và các bạn đặt câu hỏi.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TotalTime>
  <Words>1397</Words>
  <Application>Microsoft Office PowerPoint</Application>
  <PresentationFormat>Widescreen</PresentationFormat>
  <Paragraphs>119</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Cambria</vt:lpstr>
      <vt:lpstr>Lato</vt:lpstr>
      <vt:lpstr>Lato SemiBold</vt:lpstr>
      <vt:lpstr>Poppins</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Athur Phan Huy IV</cp:lastModifiedBy>
  <cp:revision>5</cp:revision>
  <dcterms:created xsi:type="dcterms:W3CDTF">2013-01-27T09:14:16Z</dcterms:created>
  <dcterms:modified xsi:type="dcterms:W3CDTF">2026-08-04T02:13:54Z</dcterms:modified>
  <cp:category/>
</cp:coreProperties>
</file>